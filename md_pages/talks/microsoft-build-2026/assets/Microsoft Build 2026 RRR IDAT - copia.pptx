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447" r:id="rId4"/>
    <p:sldMasterId id="2147485551" r:id="rId5"/>
  </p:sldMasterIdLst>
  <p:notesMasterIdLst>
    <p:notesMasterId r:id="rId30"/>
  </p:notesMasterIdLst>
  <p:handoutMasterIdLst>
    <p:handoutMasterId r:id="rId31"/>
  </p:handoutMasterIdLst>
  <p:sldIdLst>
    <p:sldId id="2147479560" r:id="rId6"/>
    <p:sldId id="2147479495" r:id="rId7"/>
    <p:sldId id="2147479530" r:id="rId8"/>
    <p:sldId id="2147479497" r:id="rId9"/>
    <p:sldId id="2147479520" r:id="rId10"/>
    <p:sldId id="2147479561" r:id="rId11"/>
    <p:sldId id="2147479562" r:id="rId12"/>
    <p:sldId id="2147479500" r:id="rId13"/>
    <p:sldId id="2147479567" r:id="rId14"/>
    <p:sldId id="2147479522" r:id="rId15"/>
    <p:sldId id="2147479563" r:id="rId16"/>
    <p:sldId id="2147479565" r:id="rId17"/>
    <p:sldId id="2147479568" r:id="rId18"/>
    <p:sldId id="2147479569" r:id="rId19"/>
    <p:sldId id="2147479570" r:id="rId20"/>
    <p:sldId id="2147479571" r:id="rId21"/>
    <p:sldId id="2147479572" r:id="rId22"/>
    <p:sldId id="2147479573" r:id="rId23"/>
    <p:sldId id="2147479519" r:id="rId24"/>
    <p:sldId id="2147479575" r:id="rId25"/>
    <p:sldId id="2147479576" r:id="rId26"/>
    <p:sldId id="2147479577" r:id="rId27"/>
    <p:sldId id="2147479523" r:id="rId28"/>
    <p:sldId id="2147479503" r:id="rId29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icrosoft Build 16:9 Template Dark" id="{5E174FA5-E68B-46F1-90F9-8D8AC2CB06F9}">
          <p14:sldIdLst>
            <p14:sldId id="2147479560"/>
            <p14:sldId id="2147479495"/>
            <p14:sldId id="2147479530"/>
            <p14:sldId id="2147479497"/>
            <p14:sldId id="2147479520"/>
            <p14:sldId id="2147479561"/>
            <p14:sldId id="2147479562"/>
            <p14:sldId id="2147479500"/>
            <p14:sldId id="2147479567"/>
            <p14:sldId id="2147479522"/>
            <p14:sldId id="2147479563"/>
            <p14:sldId id="2147479565"/>
            <p14:sldId id="2147479568"/>
            <p14:sldId id="2147479569"/>
            <p14:sldId id="2147479570"/>
            <p14:sldId id="2147479571"/>
            <p14:sldId id="2147479572"/>
            <p14:sldId id="2147479573"/>
            <p14:sldId id="2147479519"/>
            <p14:sldId id="2147479575"/>
            <p14:sldId id="2147479576"/>
            <p14:sldId id="2147479577"/>
            <p14:sldId id="2147479523"/>
            <p14:sldId id="214747950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FA61D8-796F-555E-A395-B33F90AAF99E}" name="Monica Lueder" initials="ML" userId="S::monical@microsoft.com::75969e72-ba9c-4e32-a4ac-c8f3aeff9ba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8D4"/>
    <a:srgbClr val="D7D2CB"/>
    <a:srgbClr val="E8E6DF"/>
    <a:srgbClr val="E1D3C7"/>
    <a:srgbClr val="4EFFFE"/>
    <a:srgbClr val="9BF00E"/>
    <a:srgbClr val="D59DFF"/>
    <a:srgbClr val="7FBA00"/>
    <a:srgbClr val="00A4EF"/>
    <a:srgbClr val="1A6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AD6949-F257-F9A1-F82D-39EEB90A244D}" v="1" dt="2026-08-26T03:05:20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990" autoAdjust="0"/>
  </p:normalViewPr>
  <p:slideViewPr>
    <p:cSldViewPr snapToGrid="0">
      <p:cViewPr varScale="1">
        <p:scale>
          <a:sx n="82" d="100"/>
          <a:sy n="82" d="100"/>
        </p:scale>
        <p:origin x="336" y="58"/>
      </p:cViewPr>
      <p:guideLst/>
    </p:cSldViewPr>
  </p:slideViewPr>
  <p:outlineViewPr>
    <p:cViewPr>
      <p:scale>
        <a:sx n="33" d="100"/>
        <a:sy n="33" d="100"/>
      </p:scale>
      <p:origin x="0" y="-1636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1728"/>
    </p:cViewPr>
  </p:sorterViewPr>
  <p:notesViewPr>
    <p:cSldViewPr snapToGrid="0" showGuides="1">
      <p:cViewPr varScale="1">
        <p:scale>
          <a:sx n="78" d="100"/>
          <a:sy n="78" d="100"/>
        </p:scale>
        <p:origin x="3108" y="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commentAuthors" Target="commentAuthors.xml"/><Relationship Id="rId37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F9EC6-89FF-47E1-8594-1A32E3B45134}" type="datetime8">
              <a:rPr lang="en-US" smtClean="0">
                <a:latin typeface="Segoe UI" pitchFamily="34" charset="0"/>
              </a:rPr>
              <a:t>8/26/2026 12:18 PM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6CE63F-9E7F-4C04-9D0D-FCA25A8E9E86}" type="datetime8">
              <a:rPr lang="en-US" smtClean="0"/>
              <a:t>8/26/2026 12:18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62C61DAB-D93E-49CA-B245-379601CFE8D0}" type="datetime8">
              <a:rPr lang="en-US" smtClean="0"/>
              <a:t>8/26/2026 12:18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508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8/26/2026 12:18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087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8/26/2026 12:18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072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0993E-C46C-7080-C5C1-3631B6811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914CD-F947-0135-7DEB-072F6F8CC0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0F694F-0BB4-4CCA-EF20-C58571DE59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"Cuando un usuario escribe código en Python, realmente no está ejecutando las integraciones localmente."</a:t>
            </a:r>
          </a:p>
          <a:p>
            <a:r>
              <a:rPr lang="es-PE" dirty="0"/>
              <a:t>"El SDK actúa como un cliente ligero."</a:t>
            </a:r>
          </a:p>
          <a:p>
            <a:r>
              <a:rPr lang="es-PE" dirty="0"/>
              <a:t>"Las llamadas se envían mediante HTTPS y los secretos viajan cifrados con Fernet."</a:t>
            </a:r>
          </a:p>
          <a:p>
            <a:r>
              <a:rPr lang="es-PE" dirty="0"/>
              <a:t>"Azure </a:t>
            </a:r>
            <a:r>
              <a:rPr lang="es-PE" dirty="0" err="1"/>
              <a:t>Functions</a:t>
            </a:r>
            <a:r>
              <a:rPr lang="es-PE" dirty="0"/>
              <a:t> recibe la solicitud y la ejecuta dentro del </a:t>
            </a:r>
            <a:r>
              <a:rPr lang="es-PE" dirty="0" err="1"/>
              <a:t>runtime</a:t>
            </a:r>
            <a:r>
              <a:rPr lang="es-PE" dirty="0"/>
              <a:t>."</a:t>
            </a:r>
          </a:p>
          <a:p>
            <a:r>
              <a:rPr lang="es-PE" dirty="0"/>
              <a:t>"Desde allí se accede a Email, Telegram, Google Sheets o cualquier API HTTP."</a:t>
            </a:r>
          </a:p>
          <a:p>
            <a:r>
              <a:rPr lang="es-PE" dirty="0"/>
              <a:t>"Finalmente se devuelve el resultado al usuario."</a:t>
            </a:r>
          </a:p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02080C2-7646-0B4D-A517-23BA665674F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9B761-0AF7-F900-1E94-CC51599F9F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5FD0A3-6073-0086-82B8-97CD39399D1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8/26/2026 12:18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4BDCB-2A9E-BD30-186E-430996F457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349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30843-E5BF-1943-7342-6DAAA2C51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9E2B71-1466-1032-ECDF-144B4DC80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076EBE-AA6E-07FA-0C7C-D99E4E849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La parte difícil no fue enviar mensajes a Telegram. La parte difícil fue ejecutar código de múltiples usuarios de forma segura dentro de un entorno </a:t>
            </a:r>
            <a:r>
              <a:rPr lang="es-PE" dirty="0" err="1"/>
              <a:t>serverless</a:t>
            </a:r>
            <a:r>
              <a:rPr lang="es-PE" dirty="0"/>
              <a:t>.</a:t>
            </a:r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90DD5FD-3E62-7253-9272-45F264318C9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EBB82-9C8C-1E13-A226-7CF94560BB8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B4EC9BA-6712-5654-3696-6DF63946305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8/26/2026 12:18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B7548-C7E5-39A1-A180-F97C2F802C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9682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"Cuando comencé a construir </a:t>
            </a:r>
            <a:r>
              <a:rPr lang="es-PE" dirty="0" err="1"/>
              <a:t>Apider</a:t>
            </a:r>
            <a:r>
              <a:rPr lang="es-PE" dirty="0"/>
              <a:t> me encontré con un problema que parece pequeño, pero es extremadamente peligroso."</a:t>
            </a:r>
          </a:p>
          <a:p>
            <a:r>
              <a:rPr lang="es-PE" dirty="0"/>
              <a:t>"Las credenciales de los usuarios llegan en cada petición.“</a:t>
            </a:r>
          </a:p>
          <a:p>
            <a:endParaRPr lang="es-PE" dirty="0"/>
          </a:p>
          <a:p>
            <a:r>
              <a:rPr lang="es-MX" dirty="0"/>
              <a:t>“En </a:t>
            </a:r>
            <a:r>
              <a:rPr lang="es-MX" dirty="0" err="1"/>
              <a:t>multi-tenant</a:t>
            </a:r>
            <a:r>
              <a:rPr lang="es-MX" dirty="0"/>
              <a:t>, un solo bug de aislamiento puede tumbar la confianza de todos los clientes.”</a:t>
            </a:r>
            <a:endParaRPr lang="es-PE" dirty="0"/>
          </a:p>
          <a:p>
            <a:r>
              <a:rPr lang="es-PE" dirty="0"/>
              <a:t>"Cada usuario tiene sus propios tokens."</a:t>
            </a:r>
          </a:p>
          <a:p>
            <a:r>
              <a:rPr lang="es-PE" dirty="0"/>
              <a:t>"Sus propias contraseñas."</a:t>
            </a:r>
          </a:p>
          <a:p>
            <a:r>
              <a:rPr lang="es-PE" dirty="0"/>
              <a:t>"Sus propias API Keys."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8/26/2026 12:18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6748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 = </a:t>
            </a:r>
            <a:r>
              <a:rPr lang="en-US" dirty="0" err="1"/>
              <a:t>current_env.set</a:t>
            </a:r>
            <a:r>
              <a:rPr lang="en-US" dirty="0"/>
              <a:t>(env)</a:t>
            </a:r>
          </a:p>
          <a:p>
            <a:endParaRPr lang="en-US" dirty="0"/>
          </a:p>
          <a:p>
            <a:r>
              <a:rPr lang="en-US" dirty="0"/>
              <a:t>try:</a:t>
            </a:r>
          </a:p>
          <a:p>
            <a:r>
              <a:rPr lang="en-US" dirty="0"/>
              <a:t>    result = execute()</a:t>
            </a:r>
          </a:p>
          <a:p>
            <a:r>
              <a:rPr lang="en-US" dirty="0"/>
              <a:t>finally:</a:t>
            </a:r>
          </a:p>
          <a:p>
            <a:r>
              <a:rPr lang="en-US" dirty="0"/>
              <a:t>    </a:t>
            </a:r>
            <a:r>
              <a:rPr lang="en-US" dirty="0" err="1"/>
              <a:t>current_env.reset</a:t>
            </a:r>
            <a:r>
              <a:rPr lang="en-US" dirty="0"/>
              <a:t>(token)</a:t>
            </a:r>
          </a:p>
          <a:p>
            <a:endParaRPr lang="en-US" dirty="0"/>
          </a:p>
          <a:p>
            <a:endParaRPr lang="en-US" dirty="0"/>
          </a:p>
          <a:p>
            <a:r>
              <a:rPr lang="es-PE" dirty="0"/>
              <a:t>El problema no era la concurrencia. Python ya sabe manejar concurrencia. El problema era dónde almacenar las credenciales durante la ejecución. </a:t>
            </a:r>
            <a:r>
              <a:rPr lang="es-PE" sz="882" kern="1200" dirty="0" err="1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rPr>
              <a:t>os.environ</a:t>
            </a:r>
            <a:r>
              <a:rPr lang="es-PE" dirty="0"/>
              <a:t> es global al proceso, por lo que múltiples usuarios podían interferir entre sí. La solución fue utilizar </a:t>
            </a:r>
            <a:r>
              <a:rPr lang="es-PE" sz="882" kern="1200" dirty="0" err="1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rPr>
              <a:t>ContextVar</a:t>
            </a:r>
            <a:r>
              <a:rPr lang="es-PE" dirty="0"/>
              <a:t>, que asocia el entorno a la ejecución actual, garantizando aislamiento incluso cuando cientos de </a:t>
            </a:r>
            <a:r>
              <a:rPr lang="es-PE" dirty="0" err="1"/>
              <a:t>requests</a:t>
            </a:r>
            <a:r>
              <a:rPr lang="es-PE" dirty="0"/>
              <a:t> llegan simultáneamente al mismo </a:t>
            </a:r>
            <a:r>
              <a:rPr lang="es-PE" dirty="0" err="1"/>
              <a:t>worker</a:t>
            </a:r>
            <a:r>
              <a:rPr lang="es-PE" dirty="0"/>
              <a:t>.</a:t>
            </a: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8/26/2026 12:18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8758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51762-6CB2-0CB8-7EA9-DF0F1D621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5AF7DE-E5F4-0389-3BFB-CF39C0CFA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FFEE24-31E3-135A-6F76-A12E5B263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5CA30F4-FEA6-EDE7-E76A-4CAA5A7A845F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AF4DF-CB36-64CA-769A-1934D7B95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CEB8BEA-BD65-6CF0-A061-A59D3554D996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A7B7B7-C694-4FC8-B0BD-20DAA0A272F9}" type="datetime8">
              <a:rPr lang="en-US" smtClean="0"/>
              <a:t>8/26/2026 12:18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00F1B-0244-1A92-C9EC-F2D5F12B960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022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A3D1C-3E98-C87C-3F78-BFDEF5A3B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2F4158-8E93-8427-7230-F686B4E43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427B50-8C79-CE4D-3588-5FA253F8E1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882" b="0" i="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Si las credenciales viajan por donde no deben, tarde o temprano alguien las encuentra</a:t>
            </a:r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F1ABCE6-37D1-A6FB-26A3-A3E2AB19CCA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000BB-064F-88A2-8368-9C11BFE74D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80C6FF7-01C1-C6B1-124F-1B7F2E22E26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8/26/2026 12:18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47A460-F883-5938-E88B-592D63AABA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6957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EABA5-6B50-4CC1-DE74-FF7EA0B8B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8ABF27-E946-69B9-4374-3D9F34F86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E6B9AD-E97F-DA38-24F1-5AF5069A8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Si la lógica vive en el SDK, cada bug se multiplica por todas las versiones instaladas</a:t>
            </a:r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D50F1527-89A8-3CF9-B418-DA690ECACB2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E397A-5AE4-DC9E-98AA-534475A5282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754A478-FDAC-F6C9-750D-439B11609DA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8/26/2026 12:18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3139E-8CFD-1089-961F-ED6A79187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469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8D67D-214E-24D2-DD3A-9786D7C09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EDBCDC-2662-4BA4-3C5E-4877711C1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9058C6-642D-0421-7FF8-0FC2E8738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882" b="1" i="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Eventos perdidos o duplicados:</a:t>
            </a:r>
            <a:r>
              <a:rPr lang="es-PE" sz="882" b="0" i="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 sin manejo centralizado de reintentos, idempotencia y monitoreo, puedes perder pagos, pedidos o notificaciones importantes.</a:t>
            </a:r>
          </a:p>
          <a:p>
            <a:r>
              <a:rPr lang="es-PE" sz="882" b="1" i="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Seguridad inconsistente:</a:t>
            </a:r>
            <a:r>
              <a:rPr lang="es-PE" sz="882" b="0" i="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 cada equipo valida firmas, </a:t>
            </a:r>
            <a:r>
              <a:rPr lang="es-PE" sz="882" b="0" i="0" kern="120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auth</a:t>
            </a:r>
            <a:r>
              <a:rPr lang="es-PE" sz="882" b="0" i="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 y entradas “a su manera”, creando puntos débiles en distintos endpoints.</a:t>
            </a:r>
          </a:p>
          <a:p>
            <a:r>
              <a:rPr lang="es-PE" sz="882" b="1" i="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Dependencia silenciosa:</a:t>
            </a:r>
            <a:r>
              <a:rPr lang="es-PE" sz="882" b="0" i="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 si el </a:t>
            </a:r>
            <a:r>
              <a:rPr lang="es-PE" sz="882" b="0" i="0" kern="120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endpoint</a:t>
            </a:r>
            <a:r>
              <a:rPr lang="es-PE" sz="882" b="0" i="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 está caído, los </a:t>
            </a:r>
            <a:r>
              <a:rPr lang="es-PE" sz="882" b="0" i="0" kern="1200" dirty="0" err="1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webhooks</a:t>
            </a:r>
            <a:r>
              <a:rPr lang="es-PE" sz="882" b="0" i="0" kern="1200" dirty="0">
                <a:solidFill>
                  <a:schemeClr val="tx1"/>
                </a:solidFill>
                <a:effectLst/>
                <a:latin typeface="Segoe UI" panose="020B0502040204020203" pitchFamily="34" charset="0"/>
                <a:ea typeface="+mn-ea"/>
                <a:cs typeface="+mn-cs"/>
              </a:rPr>
              <a:t> pueden dejar de llegar sin que nadie se entere hasta que ya hay daño</a:t>
            </a:r>
          </a:p>
          <a:p>
            <a:endParaRPr lang="en-US" dirty="0"/>
          </a:p>
          <a:p>
            <a:r>
              <a:rPr lang="es-MX" dirty="0"/>
              <a:t>“Sin un </a:t>
            </a:r>
            <a:r>
              <a:rPr lang="es-MX" dirty="0" err="1"/>
              <a:t>runtime</a:t>
            </a:r>
            <a:r>
              <a:rPr lang="es-MX" dirty="0"/>
              <a:t> sólido para eventos, tu automatización se rompe justo cuando más la necesitas.”</a:t>
            </a:r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55F798E-3B0A-9351-791A-236FE646D66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E84BB-AA21-1D31-EB34-3FFA1D8922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FBDC2F-E762-8067-48DA-68A1D3D8246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8/26/2026 12:18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9E11B6-E1F8-88A6-ED3A-01DF000CCD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3468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"Si queremos automatización real, necesitamos tareas programadas."</a:t>
            </a:r>
          </a:p>
          <a:p>
            <a:r>
              <a:rPr lang="es-PE" dirty="0"/>
              <a:t>"La solución más simple sería ejecutar cron </a:t>
            </a:r>
            <a:r>
              <a:rPr lang="es-PE" dirty="0" err="1"/>
              <a:t>jobs</a:t>
            </a:r>
            <a:r>
              <a:rPr lang="es-PE" dirty="0"/>
              <a:t> en una computadora."</a:t>
            </a:r>
          </a:p>
          <a:p>
            <a:r>
              <a:rPr lang="es-PE" dirty="0"/>
              <a:t>"Pero eso rompe completamente el modelo </a:t>
            </a:r>
            <a:r>
              <a:rPr lang="es-PE" dirty="0" err="1"/>
              <a:t>serverless</a:t>
            </a:r>
            <a:r>
              <a:rPr lang="es-PE" dirty="0"/>
              <a:t>."</a:t>
            </a:r>
          </a:p>
          <a:p>
            <a:r>
              <a:rPr lang="es-PE" dirty="0"/>
              <a:t>"Entonces decidí almacenar la definición de los trabajos en Azure Table Storage."</a:t>
            </a:r>
          </a:p>
          <a:p>
            <a:r>
              <a:rPr lang="es-PE" dirty="0"/>
              <a:t>"Un Timer Trigger se ejecuta cada minuto."</a:t>
            </a:r>
          </a:p>
          <a:p>
            <a:r>
              <a:rPr lang="es-PE" dirty="0"/>
              <a:t>"Busca los trabajos pendientes."</a:t>
            </a:r>
          </a:p>
          <a:p>
            <a:r>
              <a:rPr lang="es-PE" dirty="0"/>
              <a:t>"Y dispara el </a:t>
            </a:r>
            <a:r>
              <a:rPr lang="es-PE" dirty="0" err="1"/>
              <a:t>runtime</a:t>
            </a:r>
            <a:r>
              <a:rPr lang="es-PE" dirty="0"/>
              <a:t> correspondiente."</a:t>
            </a:r>
          </a:p>
          <a:p>
            <a:r>
              <a:rPr lang="es-PE" dirty="0"/>
              <a:t>"Desde el punto de vista del usuario solamente existe una función Python."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8/26/2026 12:18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833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B80C3-D51F-4388-EE55-B5F8205F1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676368-6592-335A-8548-1F0373557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430CD0-6AA4-FF93-B25B-A57336B13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"Después de resolver aislamiento, seguridad y ejecución distribuida, la arquitectura final terminó convergiendo en un único </a:t>
            </a:r>
            <a:r>
              <a:rPr lang="es-PE" dirty="0" err="1"/>
              <a:t>runtime</a:t>
            </a:r>
            <a:r>
              <a:rPr lang="es-PE" dirty="0"/>
              <a:t>."</a:t>
            </a:r>
          </a:p>
          <a:p>
            <a:r>
              <a:rPr lang="es-PE" dirty="0"/>
              <a:t>"El SDK es solamente una interfaz."</a:t>
            </a:r>
          </a:p>
          <a:p>
            <a:r>
              <a:rPr lang="es-PE" dirty="0"/>
              <a:t>"La ejecución ocurre en Azure."</a:t>
            </a:r>
          </a:p>
          <a:p>
            <a:r>
              <a:rPr lang="es-PE" dirty="0"/>
              <a:t>"Y los módulos son capacidades expuestas por ese </a:t>
            </a:r>
            <a:r>
              <a:rPr lang="es-PE" dirty="0" err="1"/>
              <a:t>runtime</a:t>
            </a:r>
            <a:r>
              <a:rPr lang="es-PE" dirty="0"/>
              <a:t>."</a:t>
            </a:r>
          </a:p>
          <a:p>
            <a:r>
              <a:rPr lang="es-PE" dirty="0"/>
              <a:t>"Este enfoque simplifica enormemente la experiencia del desarrollador."</a:t>
            </a:r>
          </a:p>
          <a:p>
            <a:r>
              <a:rPr lang="es-PE" dirty="0"/>
              <a:t>"Pero desplaza toda la complejidad hacia la infraestructura."</a:t>
            </a:r>
          </a:p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69E8735-CEE4-B912-2D19-5E17BEBC633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5EB0-0042-EEF9-0CD0-A82006B281E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396EBC-1250-847D-F91C-05F006ECCE9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8/26/2026 12:18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97398D-E610-1244-7895-A0155878FD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6367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5F28F-6DF9-2C93-B3F0-F01956CD7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4A948B-98EE-B863-E274-E3B65BD54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B1A329-DA87-342A-D0B4-95F34DFBF0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"El objetivo nunca fue construir un SDK."</a:t>
            </a:r>
          </a:p>
          <a:p>
            <a:r>
              <a:rPr lang="es-PE" dirty="0"/>
              <a:t>"El objetivo era validar si Azure </a:t>
            </a:r>
            <a:r>
              <a:rPr lang="es-PE" dirty="0" err="1"/>
              <a:t>Functions</a:t>
            </a:r>
            <a:r>
              <a:rPr lang="es-PE" dirty="0"/>
              <a:t> podía actuar como base para un </a:t>
            </a:r>
            <a:r>
              <a:rPr lang="es-PE" dirty="0" err="1"/>
              <a:t>runtime</a:t>
            </a:r>
            <a:r>
              <a:rPr lang="es-PE" dirty="0"/>
              <a:t> </a:t>
            </a:r>
            <a:r>
              <a:rPr lang="es-PE" dirty="0" err="1"/>
              <a:t>multi-tenant</a:t>
            </a:r>
            <a:r>
              <a:rPr lang="es-PE" dirty="0"/>
              <a:t>."</a:t>
            </a:r>
          </a:p>
          <a:p>
            <a:r>
              <a:rPr lang="es-PE" dirty="0"/>
              <a:t>"Y la respuesta terminó siendo sí."</a:t>
            </a:r>
          </a:p>
          <a:p>
            <a:r>
              <a:rPr lang="es-PE" dirty="0"/>
              <a:t>"La plataforma hoy ejecuta código Python de distintos usuarios manteniendo aislamiento, seguridad y escalabilidad."</a:t>
            </a:r>
          </a:p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704433E-E77E-5AC7-2576-D96812E2048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79D0D-B154-2FD2-28F3-4391D8EFB7D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E71EB65-E95E-7447-6EC0-2D7E3A33FBB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8/26/2026 12:18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D9425-809F-EBFC-B1D9-BDAC66CD40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5733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37556-60C1-0228-BDA6-8461D10DB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C29825-8E9D-7D3F-B7EA-0731374D17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E901D5-3ABC-19B6-42F8-B919071F7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"Si tuviera que volver a empezar, diseñaría el aislamiento incluso antes que las integraciones."</a:t>
            </a:r>
          </a:p>
          <a:p>
            <a:r>
              <a:rPr lang="es-PE" dirty="0"/>
              <a:t>"La mayoría de problemas complejos aparecieron alrededor de la concurrencia."</a:t>
            </a:r>
          </a:p>
          <a:p>
            <a:r>
              <a:rPr lang="es-PE" dirty="0"/>
              <a:t>"No alrededor de Telegram."</a:t>
            </a:r>
          </a:p>
          <a:p>
            <a:r>
              <a:rPr lang="es-PE" dirty="0"/>
              <a:t>"No alrededor de Email."</a:t>
            </a:r>
          </a:p>
          <a:p>
            <a:r>
              <a:rPr lang="es-PE" dirty="0"/>
              <a:t>"No alrededor de Azure."</a:t>
            </a:r>
          </a:p>
          <a:p>
            <a:r>
              <a:rPr lang="es-PE" dirty="0"/>
              <a:t>"Sino alrededor del aislamiento entre usuarios."</a:t>
            </a:r>
          </a:p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C437B774-8B88-F63A-EC87-E1BDB10B534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762DA-CCC4-A379-5B43-993EF26FD26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0A86EEB-000E-5BCF-83CE-635CB3B4E74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8/26/2026 12:18 PM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5E1D7-3C61-E1B7-0684-B5C75CC8F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2251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"Todo lo que hemos visto hasta ahora existe para que la experiencia final sea esto."</a:t>
            </a:r>
          </a:p>
          <a:p>
            <a:r>
              <a:rPr lang="es-PE" dirty="0"/>
              <a:t>"Dos o tres líneas de Python."</a:t>
            </a:r>
          </a:p>
          <a:p>
            <a:r>
              <a:rPr lang="es-PE" dirty="0"/>
              <a:t>"Pero detrás existe aislamiento </a:t>
            </a:r>
            <a:r>
              <a:rPr lang="es-PE" dirty="0" err="1"/>
              <a:t>multi-tenant</a:t>
            </a:r>
            <a:r>
              <a:rPr lang="es-PE" dirty="0"/>
              <a:t>."</a:t>
            </a:r>
          </a:p>
          <a:p>
            <a:r>
              <a:rPr lang="es-PE" dirty="0"/>
              <a:t>"Ejecución distribuida."</a:t>
            </a:r>
          </a:p>
          <a:p>
            <a:r>
              <a:rPr lang="es-PE" dirty="0"/>
              <a:t>"Seguridad."</a:t>
            </a:r>
          </a:p>
          <a:p>
            <a:r>
              <a:rPr lang="es-PE" dirty="0"/>
              <a:t>"Persistencia."</a:t>
            </a:r>
          </a:p>
          <a:p>
            <a:r>
              <a:rPr lang="es-PE" dirty="0"/>
              <a:t>"Y escalado automático."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B16574EE-8191-4BCC-ABE6-D00A4F4D7690}" type="datetime8">
              <a:rPr lang="en-US" smtClean="0"/>
              <a:t>8/26/2026 12:18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7203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"La pregunta original era cómo ejecutar código Python de múltiples usuarios dentro de Azure </a:t>
            </a:r>
            <a:r>
              <a:rPr lang="es-PE" dirty="0" err="1"/>
              <a:t>Functions</a:t>
            </a:r>
            <a:r>
              <a:rPr lang="es-PE" dirty="0"/>
              <a:t>."</a:t>
            </a:r>
          </a:p>
          <a:p>
            <a:r>
              <a:rPr lang="es-PE" dirty="0"/>
              <a:t>"La respuesta terminó siendo una combinación de aislamiento, seguridad y arquitectura </a:t>
            </a:r>
            <a:r>
              <a:rPr lang="es-PE" dirty="0" err="1"/>
              <a:t>serverless</a:t>
            </a:r>
            <a:r>
              <a:rPr lang="es-PE" dirty="0"/>
              <a:t>."</a:t>
            </a:r>
          </a:p>
          <a:p>
            <a:r>
              <a:rPr lang="es-PE" dirty="0"/>
              <a:t>"Y aunque el resultado final es una experiencia extremadamente simple para el desarrollador, detrás existe una cantidad considerable de ingeniería."</a:t>
            </a:r>
          </a:p>
          <a:p>
            <a:r>
              <a:rPr lang="es-PE" dirty="0"/>
              <a:t>"Muchas gracias."</a:t>
            </a:r>
          </a:p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A5CD2277-7C1A-43CA-8676-87B24AD584BD}" type="datetime8">
              <a:rPr lang="en-US" smtClean="0"/>
              <a:t>8/26/2026 12:18 PM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887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jp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jp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jp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3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jp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8.jp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3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jp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61F197-BBD3-F0CF-61A3-8C722BAA63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971" t="27592" r="22666" b="8704"/>
          <a:stretch>
            <a:fillRect/>
          </a:stretch>
        </p:blipFill>
        <p:spPr>
          <a:xfrm>
            <a:off x="293688" y="1892300"/>
            <a:ext cx="9066212" cy="4368800"/>
          </a:xfrm>
          <a:prstGeom prst="rect">
            <a:avLst/>
          </a:prstGeom>
        </p:spPr>
      </p:pic>
      <p:pic>
        <p:nvPicPr>
          <p:cNvPr id="5" name="MS logo gray - EMF" descr="Microsoft logo, gray text version">
            <a:extLst>
              <a:ext uri="{FF2B5EF4-FFF2-40B4-BE49-F238E27FC236}">
                <a16:creationId xmlns:a16="http://schemas.microsoft.com/office/drawing/2014/main" id="{5E852628-66D0-63A4-2D1F-5C71AC7C4B4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2912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199" y="3962399"/>
            <a:ext cx="5577839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2" name="MS logo gray - EMF" descr="Microsoft logo, gray text version">
            <a:extLst>
              <a:ext uri="{FF2B5EF4-FFF2-40B4-BE49-F238E27FC236}">
                <a16:creationId xmlns:a16="http://schemas.microsoft.com/office/drawing/2014/main" id="{29DE1A84-7895-6C86-55F4-BD33491BA5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9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224827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5798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309146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42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13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68972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113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2656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3244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172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6267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333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7447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25968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 dirty="0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638885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4461739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06056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84805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54328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229000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568238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13571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918695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661383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368245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0101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367421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1236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838939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572822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2173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54422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568486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657639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692859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857840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98641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4008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4008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56031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rgbClr val="D7D2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812763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3E71AD-28C0-A891-7383-A422FAE801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008" r="8017" b="55921"/>
          <a:stretch>
            <a:fillRect/>
          </a:stretch>
        </p:blipFill>
        <p:spPr>
          <a:xfrm flipH="1">
            <a:off x="0" y="3744563"/>
            <a:ext cx="12192000" cy="311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556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84628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53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260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19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65474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56137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93A7DCC4-90CB-5487-9CD7-96D3ADB377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771300-CAF5-B6B5-CF45-EBEDBBBD5AC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2971" t="27592" r="22666" b="8704"/>
          <a:stretch>
            <a:fillRect/>
          </a:stretch>
        </p:blipFill>
        <p:spPr>
          <a:xfrm>
            <a:off x="293688" y="1892300"/>
            <a:ext cx="9066212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230062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1"/>
            <a:ext cx="5577840" cy="1107996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399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8C97F8FC-6154-33A9-9E6C-1A787DA153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9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74FE235F-02A3-CF25-8716-2552AE8442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841492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6165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860430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8207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9391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CBEB8-AFEF-362F-CB36-DC00FA4C6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149028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4405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566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864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9220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9365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2234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177231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422629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 dirty="0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26482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35319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7652569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308441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795765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143176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275454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33936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594090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43598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024787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288631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803741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746176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933605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631312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4730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623114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61019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7694826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1548049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8432662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78140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4008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4EFFFE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4008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859667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55963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4EFFFE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E92415-D13E-5E6D-DBFD-80D73DF182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008" r="8017" b="55921"/>
          <a:stretch>
            <a:fillRect/>
          </a:stretch>
        </p:blipFill>
        <p:spPr>
          <a:xfrm flipH="1">
            <a:off x="0" y="3744563"/>
            <a:ext cx="12192000" cy="311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985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7374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3786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314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580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523109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92971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75.xml"/><Relationship Id="rId39" Type="http://schemas.openxmlformats.org/officeDocument/2006/relationships/slideLayout" Target="../slideLayouts/slideLayout88.xml"/><Relationship Id="rId21" Type="http://schemas.openxmlformats.org/officeDocument/2006/relationships/slideLayout" Target="../slideLayouts/slideLayout70.xml"/><Relationship Id="rId34" Type="http://schemas.openxmlformats.org/officeDocument/2006/relationships/slideLayout" Target="../slideLayouts/slideLayout83.xml"/><Relationship Id="rId42" Type="http://schemas.openxmlformats.org/officeDocument/2006/relationships/slideLayout" Target="../slideLayouts/slideLayout91.xml"/><Relationship Id="rId47" Type="http://schemas.openxmlformats.org/officeDocument/2006/relationships/slideLayout" Target="../slideLayouts/slideLayout96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29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73.xml"/><Relationship Id="rId32" Type="http://schemas.openxmlformats.org/officeDocument/2006/relationships/slideLayout" Target="../slideLayouts/slideLayout81.xml"/><Relationship Id="rId37" Type="http://schemas.openxmlformats.org/officeDocument/2006/relationships/slideLayout" Target="../slideLayouts/slideLayout86.xml"/><Relationship Id="rId40" Type="http://schemas.openxmlformats.org/officeDocument/2006/relationships/slideLayout" Target="../slideLayouts/slideLayout89.xml"/><Relationship Id="rId45" Type="http://schemas.openxmlformats.org/officeDocument/2006/relationships/slideLayout" Target="../slideLayouts/slideLayout94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72.xml"/><Relationship Id="rId28" Type="http://schemas.openxmlformats.org/officeDocument/2006/relationships/slideLayout" Target="../slideLayouts/slideLayout77.xml"/><Relationship Id="rId36" Type="http://schemas.openxmlformats.org/officeDocument/2006/relationships/slideLayout" Target="../slideLayouts/slideLayout85.xml"/><Relationship Id="rId49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80.xml"/><Relationship Id="rId44" Type="http://schemas.openxmlformats.org/officeDocument/2006/relationships/slideLayout" Target="../slideLayouts/slideLayout93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71.xml"/><Relationship Id="rId27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9.xml"/><Relationship Id="rId35" Type="http://schemas.openxmlformats.org/officeDocument/2006/relationships/slideLayout" Target="../slideLayouts/slideLayout84.xml"/><Relationship Id="rId43" Type="http://schemas.openxmlformats.org/officeDocument/2006/relationships/slideLayout" Target="../slideLayouts/slideLayout92.xml"/><Relationship Id="rId48" Type="http://schemas.openxmlformats.org/officeDocument/2006/relationships/slideLayout" Target="../slideLayouts/slideLayout97.xml"/><Relationship Id="rId8" Type="http://schemas.openxmlformats.org/officeDocument/2006/relationships/slideLayout" Target="../slideLayouts/slideLayout57.xml"/><Relationship Id="rId51" Type="http://schemas.openxmlformats.org/officeDocument/2006/relationships/image" Target="../media/image1.svg"/><Relationship Id="rId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82.xml"/><Relationship Id="rId38" Type="http://schemas.openxmlformats.org/officeDocument/2006/relationships/slideLayout" Target="../slideLayouts/slideLayout87.xml"/><Relationship Id="rId46" Type="http://schemas.openxmlformats.org/officeDocument/2006/relationships/slideLayout" Target="../slideLayouts/slideLayout95.xml"/><Relationship Id="rId20" Type="http://schemas.openxmlformats.org/officeDocument/2006/relationships/slideLayout" Target="../slideLayouts/slideLayout69.xml"/><Relationship Id="rId41" Type="http://schemas.openxmlformats.org/officeDocument/2006/relationships/slideLayout" Target="../slideLayouts/slideLayout90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07" r:id="rId1"/>
    <p:sldLayoutId id="2147485450" r:id="rId2"/>
    <p:sldLayoutId id="2147485451" r:id="rId3"/>
    <p:sldLayoutId id="2147485452" r:id="rId4"/>
    <p:sldLayoutId id="2147485453" r:id="rId5"/>
    <p:sldLayoutId id="2147485454" r:id="rId6"/>
    <p:sldLayoutId id="2147485455" r:id="rId7"/>
    <p:sldLayoutId id="2147485456" r:id="rId8"/>
    <p:sldLayoutId id="2147485457" r:id="rId9"/>
    <p:sldLayoutId id="2147485458" r:id="rId10"/>
    <p:sldLayoutId id="2147485459" r:id="rId11"/>
    <p:sldLayoutId id="2147485460" r:id="rId12"/>
    <p:sldLayoutId id="2147485461" r:id="rId13"/>
    <p:sldLayoutId id="2147485462" r:id="rId14"/>
    <p:sldLayoutId id="2147485463" r:id="rId15"/>
    <p:sldLayoutId id="2147485464" r:id="rId16"/>
    <p:sldLayoutId id="2147485465" r:id="rId17"/>
    <p:sldLayoutId id="2147485466" r:id="rId18"/>
    <p:sldLayoutId id="2147485467" r:id="rId19"/>
    <p:sldLayoutId id="2147485468" r:id="rId20"/>
    <p:sldLayoutId id="2147485469" r:id="rId21"/>
    <p:sldLayoutId id="2147485470" r:id="rId22"/>
    <p:sldLayoutId id="2147485471" r:id="rId23"/>
    <p:sldLayoutId id="2147485472" r:id="rId24"/>
    <p:sldLayoutId id="2147485473" r:id="rId25"/>
    <p:sldLayoutId id="2147485474" r:id="rId26"/>
    <p:sldLayoutId id="2147485475" r:id="rId27"/>
    <p:sldLayoutId id="2147485476" r:id="rId28"/>
    <p:sldLayoutId id="2147485477" r:id="rId29"/>
    <p:sldLayoutId id="2147485478" r:id="rId30"/>
    <p:sldLayoutId id="2147485479" r:id="rId31"/>
    <p:sldLayoutId id="2147485480" r:id="rId32"/>
    <p:sldLayoutId id="2147485481" r:id="rId33"/>
    <p:sldLayoutId id="2147485482" r:id="rId34"/>
    <p:sldLayoutId id="2147485483" r:id="rId35"/>
    <p:sldLayoutId id="2147485484" r:id="rId36"/>
    <p:sldLayoutId id="2147485485" r:id="rId37"/>
    <p:sldLayoutId id="2147485486" r:id="rId38"/>
    <p:sldLayoutId id="2147485487" r:id="rId39"/>
    <p:sldLayoutId id="2147485488" r:id="rId40"/>
    <p:sldLayoutId id="2147485489" r:id="rId41"/>
    <p:sldLayoutId id="2147485490" r:id="rId42"/>
    <p:sldLayoutId id="2147485491" r:id="rId43"/>
    <p:sldLayoutId id="2147485492" r:id="rId44"/>
    <p:sldLayoutId id="2147485493" r:id="rId45"/>
    <p:sldLayoutId id="2147485494" r:id="rId46"/>
    <p:sldLayoutId id="2147485495" r:id="rId47"/>
    <p:sldLayoutId id="2147485496" r:id="rId48"/>
    <p:sldLayoutId id="2147485603" r:id="rId49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31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601" r:id="rId1"/>
    <p:sldLayoutId id="2147485554" r:id="rId2"/>
    <p:sldLayoutId id="2147485555" r:id="rId3"/>
    <p:sldLayoutId id="2147485556" r:id="rId4"/>
    <p:sldLayoutId id="2147485557" r:id="rId5"/>
    <p:sldLayoutId id="2147485558" r:id="rId6"/>
    <p:sldLayoutId id="2147485559" r:id="rId7"/>
    <p:sldLayoutId id="2147485560" r:id="rId8"/>
    <p:sldLayoutId id="2147485561" r:id="rId9"/>
    <p:sldLayoutId id="2147485562" r:id="rId10"/>
    <p:sldLayoutId id="2147485563" r:id="rId11"/>
    <p:sldLayoutId id="2147485564" r:id="rId12"/>
    <p:sldLayoutId id="2147485565" r:id="rId13"/>
    <p:sldLayoutId id="2147485566" r:id="rId14"/>
    <p:sldLayoutId id="2147485567" r:id="rId15"/>
    <p:sldLayoutId id="2147485568" r:id="rId16"/>
    <p:sldLayoutId id="2147485569" r:id="rId17"/>
    <p:sldLayoutId id="2147485570" r:id="rId18"/>
    <p:sldLayoutId id="2147485571" r:id="rId19"/>
    <p:sldLayoutId id="2147485572" r:id="rId20"/>
    <p:sldLayoutId id="2147485573" r:id="rId21"/>
    <p:sldLayoutId id="2147485574" r:id="rId22"/>
    <p:sldLayoutId id="2147485575" r:id="rId23"/>
    <p:sldLayoutId id="2147485576" r:id="rId24"/>
    <p:sldLayoutId id="2147485577" r:id="rId25"/>
    <p:sldLayoutId id="2147485578" r:id="rId26"/>
    <p:sldLayoutId id="2147485579" r:id="rId27"/>
    <p:sldLayoutId id="2147485580" r:id="rId28"/>
    <p:sldLayoutId id="2147485581" r:id="rId29"/>
    <p:sldLayoutId id="2147485582" r:id="rId30"/>
    <p:sldLayoutId id="2147485583" r:id="rId31"/>
    <p:sldLayoutId id="2147485584" r:id="rId32"/>
    <p:sldLayoutId id="2147485585" r:id="rId33"/>
    <p:sldLayoutId id="2147485586" r:id="rId34"/>
    <p:sldLayoutId id="2147485587" r:id="rId35"/>
    <p:sldLayoutId id="2147485588" r:id="rId36"/>
    <p:sldLayoutId id="2147485589" r:id="rId37"/>
    <p:sldLayoutId id="2147485590" r:id="rId38"/>
    <p:sldLayoutId id="2147485591" r:id="rId39"/>
    <p:sldLayoutId id="2147485592" r:id="rId40"/>
    <p:sldLayoutId id="2147485593" r:id="rId41"/>
    <p:sldLayoutId id="2147485594" r:id="rId42"/>
    <p:sldLayoutId id="2147485595" r:id="rId43"/>
    <p:sldLayoutId id="2147485596" r:id="rId44"/>
    <p:sldLayoutId id="2147485597" r:id="rId45"/>
    <p:sldLayoutId id="2147485598" r:id="rId46"/>
    <p:sldLayoutId id="2147485599" r:id="rId47"/>
    <p:sldLayoutId id="2147485600" r:id="rId48"/>
    <p:sldLayoutId id="2147485602" r:id="rId49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3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3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3.xml"/><Relationship Id="rId4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7.xml"/><Relationship Id="rId5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5.xml"/><Relationship Id="rId5" Type="http://schemas.openxmlformats.org/officeDocument/2006/relationships/image" Target="../media/image40.png"/><Relationship Id="rId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5.xml"/><Relationship Id="rId5" Type="http://schemas.openxmlformats.org/officeDocument/2006/relationships/image" Target="../media/image41.png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7.xml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9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4.xml"/><Relationship Id="rId5" Type="http://schemas.openxmlformats.org/officeDocument/2006/relationships/image" Target="../media/image45.pn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7.xml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7.xml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7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6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5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5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5.xml"/><Relationship Id="rId5" Type="http://schemas.openxmlformats.org/officeDocument/2006/relationships/image" Target="../media/image55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0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9D57F-076E-AA58-BDFF-8F3981582F1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88263" y="-630197"/>
            <a:ext cx="11018520" cy="553998"/>
          </a:xfrm>
        </p:spPr>
        <p:txBody>
          <a:bodyPr/>
          <a:lstStyle/>
          <a:p>
            <a:r>
              <a:rPr lang="en-US" dirty="0">
                <a:noFill/>
              </a:rPr>
              <a:t>Microsoft Build</a:t>
            </a:r>
          </a:p>
        </p:txBody>
      </p:sp>
      <p:pic>
        <p:nvPicPr>
          <p:cNvPr id="4" name="Imagen 3" descr="LATAM&#10;&#10;El contenido generado por IA puede ser incorrecto.">
            <a:extLst>
              <a:ext uri="{FF2B5EF4-FFF2-40B4-BE49-F238E27FC236}">
                <a16:creationId xmlns:a16="http://schemas.microsoft.com/office/drawing/2014/main" id="{2E4D5E98-3289-E047-6D3E-AFAB969B0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832" y="5313342"/>
            <a:ext cx="2219439" cy="803316"/>
          </a:xfrm>
          <a:prstGeom prst="rect">
            <a:avLst/>
          </a:prstGeom>
        </p:spPr>
      </p:pic>
      <p:pic>
        <p:nvPicPr>
          <p:cNvPr id="6" name="Imagen 5" descr="The image depicts a white silhouette of a brain with a prominent, colorful lightning bolt symbol, suggesting a connection to ideas or innovation.&#10;&#10;El contenido generado por IA puede ser incorrecto.">
            <a:extLst>
              <a:ext uri="{FF2B5EF4-FFF2-40B4-BE49-F238E27FC236}">
                <a16:creationId xmlns:a16="http://schemas.microsoft.com/office/drawing/2014/main" id="{FE73A139-9D36-2523-F729-4C87E4E55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971" y="4938672"/>
            <a:ext cx="704886" cy="117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93670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84199" y="2275775"/>
            <a:ext cx="8425329" cy="1231106"/>
          </a:xfrm>
        </p:spPr>
        <p:txBody>
          <a:bodyPr/>
          <a:lstStyle/>
          <a:p>
            <a:r>
              <a:rPr lang="es-PE" b="1" dirty="0"/>
              <a:t>Building a Multi-Tenant Python Runtime on Azure </a:t>
            </a:r>
            <a:r>
              <a:rPr lang="es-PE" b="1" dirty="0" err="1"/>
              <a:t>Functions</a:t>
            </a:r>
            <a:endParaRPr lang="es-PE"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584200" y="3935503"/>
            <a:ext cx="5577840" cy="1107996"/>
          </a:xfrm>
        </p:spPr>
        <p:txBody>
          <a:bodyPr/>
          <a:lstStyle/>
          <a:p>
            <a:r>
              <a:rPr lang="es-PE" b="1" dirty="0" err="1"/>
              <a:t>Lessons</a:t>
            </a:r>
            <a:r>
              <a:rPr lang="es-PE" b="1" dirty="0"/>
              <a:t> </a:t>
            </a:r>
            <a:r>
              <a:rPr lang="es-PE" b="1" dirty="0" err="1"/>
              <a:t>from</a:t>
            </a:r>
            <a:r>
              <a:rPr lang="es-PE" b="1" dirty="0"/>
              <a:t> a Real </a:t>
            </a:r>
            <a:r>
              <a:rPr lang="es-PE" b="1" dirty="0" err="1"/>
              <a:t>Automation</a:t>
            </a:r>
            <a:r>
              <a:rPr lang="es-PE" b="1" dirty="0"/>
              <a:t> </a:t>
            </a:r>
            <a:r>
              <a:rPr lang="es-PE" b="1" dirty="0" err="1"/>
              <a:t>Platform</a:t>
            </a:r>
            <a:endParaRPr lang="es-PE" b="1" dirty="0"/>
          </a:p>
          <a:p>
            <a:endParaRPr lang="es-PE" b="1" dirty="0"/>
          </a:p>
          <a:p>
            <a:endParaRPr lang="es-PE" b="1" dirty="0"/>
          </a:p>
          <a:p>
            <a:r>
              <a:rPr lang="es-PE" b="1" dirty="0"/>
              <a:t>Jorge de la Flor</a:t>
            </a:r>
            <a:endParaRPr lang="en-U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0FC1278-AE0A-376A-9384-E516BF342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1916" y="414358"/>
            <a:ext cx="1472326" cy="53290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93279CF-B79C-7F9A-D80B-AF669E43B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3047" y="340396"/>
            <a:ext cx="407394" cy="68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98445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9597F-E851-7BC8-2461-D5ADA7025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332729"/>
            <a:ext cx="7770906" cy="615553"/>
          </a:xfrm>
        </p:spPr>
        <p:txBody>
          <a:bodyPr/>
          <a:lstStyle/>
          <a:p>
            <a:r>
              <a:rPr lang="es-PE" dirty="0"/>
              <a:t>Sobre mí</a:t>
            </a:r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AB2C9EF-F70F-46C1-7242-B26579534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5971" y="414358"/>
            <a:ext cx="1472326" cy="5329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89D12FC-C37C-8621-8BF0-ABA9FC0CA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7102" y="340396"/>
            <a:ext cx="407394" cy="680826"/>
          </a:xfrm>
          <a:prstGeom prst="rect">
            <a:avLst/>
          </a:prstGeom>
        </p:spPr>
      </p:pic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2E4A83A8-92D7-87D3-2435-00DB472758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4201" y="2142566"/>
            <a:ext cx="6193117" cy="2215991"/>
          </a:xfrm>
        </p:spPr>
        <p:txBody>
          <a:bodyPr/>
          <a:lstStyle/>
          <a:p>
            <a:r>
              <a:rPr lang="es-PE" dirty="0"/>
              <a:t>Mi nombre es Jorge Aurelio de la Flor Argandoña.</a:t>
            </a:r>
          </a:p>
          <a:p>
            <a:endParaRPr lang="es-PE" dirty="0"/>
          </a:p>
          <a:p>
            <a:r>
              <a:rPr lang="es-PE" dirty="0" err="1"/>
              <a:t>Embedded</a:t>
            </a:r>
            <a:r>
              <a:rPr lang="es-PE" dirty="0"/>
              <a:t> </a:t>
            </a:r>
            <a:r>
              <a:rPr lang="es-PE" dirty="0" err="1"/>
              <a:t>Systems</a:t>
            </a:r>
            <a:r>
              <a:rPr lang="es-PE" dirty="0"/>
              <a:t> &amp; Software Engineer que disfruta construir soluciones que combinan hardware, Python, Rust y la nube. Actualmente desarrolla </a:t>
            </a:r>
            <a:r>
              <a:rPr lang="es-PE" dirty="0" err="1"/>
              <a:t>Apider</a:t>
            </a:r>
            <a:r>
              <a:rPr lang="es-PE" dirty="0"/>
              <a:t>, un </a:t>
            </a:r>
            <a:r>
              <a:rPr lang="es-PE" dirty="0" err="1"/>
              <a:t>runtime</a:t>
            </a:r>
            <a:r>
              <a:rPr lang="es-PE" dirty="0"/>
              <a:t> de automatización </a:t>
            </a:r>
            <a:r>
              <a:rPr lang="es-PE" dirty="0" err="1"/>
              <a:t>multi-tenant</a:t>
            </a:r>
            <a:r>
              <a:rPr lang="es-PE" dirty="0"/>
              <a:t> sobre Azure </a:t>
            </a:r>
            <a:r>
              <a:rPr lang="es-PE" dirty="0" err="1"/>
              <a:t>Functions</a:t>
            </a:r>
            <a:r>
              <a:rPr lang="es-PE" dirty="0"/>
              <a:t> que conecta desde dispositivos embebidos hasta servicios </a:t>
            </a:r>
            <a:r>
              <a:rPr lang="es-PE" dirty="0" err="1"/>
              <a:t>cloud</a:t>
            </a:r>
            <a:r>
              <a:rPr lang="es-PE" dirty="0"/>
              <a:t>, con foco en arquitectura </a:t>
            </a:r>
            <a:r>
              <a:rPr lang="es-PE" dirty="0" err="1"/>
              <a:t>event‑driven</a:t>
            </a:r>
            <a:r>
              <a:rPr lang="es-PE" dirty="0"/>
              <a:t> y sistemas distribuidos.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3015468-713B-9AAE-C001-A10B867280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0422" y="1332729"/>
            <a:ext cx="3655314" cy="4499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7BF15BD-001C-49B3-9A01-B39DEDA47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1090609"/>
            <a:ext cx="3182027" cy="677108"/>
          </a:xfrm>
        </p:spPr>
        <p:txBody>
          <a:bodyPr/>
          <a:lstStyle/>
          <a:p>
            <a:pPr algn="ctr"/>
            <a:r>
              <a:rPr lang="es-PE" sz="4400" dirty="0"/>
              <a:t>EL RETO</a:t>
            </a:r>
            <a:endParaRPr lang="en-US" sz="44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1F6BD0B-C4D8-42DE-A3A7-50D8219CE6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5216" y="2309812"/>
            <a:ext cx="11024172" cy="984885"/>
          </a:xfrm>
        </p:spPr>
        <p:txBody>
          <a:bodyPr/>
          <a:lstStyle/>
          <a:p>
            <a:pPr marL="0" indent="0" algn="ctr">
              <a:buNone/>
            </a:pPr>
            <a:r>
              <a:rPr lang="es-PE" sz="3200" dirty="0"/>
              <a:t>¿Cómo ejecutar código Python escrito por miles de usuarios en Azure </a:t>
            </a:r>
            <a:r>
              <a:rPr lang="es-PE" sz="3200" dirty="0" err="1"/>
              <a:t>Functions</a:t>
            </a:r>
            <a:r>
              <a:rPr lang="es-PE" sz="3200" dirty="0"/>
              <a:t> de forma segura?</a:t>
            </a:r>
            <a:endParaRPr lang="en-US" sz="32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BB7818D-CC29-F326-3175-7A769D424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737" y="498440"/>
            <a:ext cx="1472326" cy="53290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9B6C90C-359E-C843-DC9F-AD60EE3117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2868" y="424478"/>
            <a:ext cx="407394" cy="680826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31A410DA-7C54-C913-F1F5-B808294C427E}"/>
              </a:ext>
            </a:extLst>
          </p:cNvPr>
          <p:cNvSpPr txBox="1">
            <a:spLocks/>
          </p:cNvSpPr>
          <p:nvPr/>
        </p:nvSpPr>
        <p:spPr>
          <a:xfrm>
            <a:off x="582612" y="3783865"/>
            <a:ext cx="4339012" cy="161890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231775" marR="0" indent="-2317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dirty="0"/>
              <a:t>Usuarios distintos</a:t>
            </a:r>
          </a:p>
          <a:p>
            <a:r>
              <a:rPr lang="es-PE" dirty="0"/>
              <a:t>Ejecuciones concurrentes</a:t>
            </a:r>
          </a:p>
          <a:p>
            <a:r>
              <a:rPr lang="es-PE" dirty="0"/>
              <a:t>Costos controlados</a:t>
            </a:r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3658992-5298-D012-A495-8E6D54B37162}"/>
              </a:ext>
            </a:extLst>
          </p:cNvPr>
          <p:cNvSpPr txBox="1">
            <a:spLocks/>
          </p:cNvSpPr>
          <p:nvPr/>
        </p:nvSpPr>
        <p:spPr>
          <a:xfrm>
            <a:off x="7288212" y="3783865"/>
            <a:ext cx="4321176" cy="102489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231775" marR="0" indent="-2317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dirty="0"/>
              <a:t>Credenciales distintas</a:t>
            </a:r>
          </a:p>
          <a:p>
            <a:r>
              <a:rPr lang="es-PE" dirty="0"/>
              <a:t>Escalado automático</a:t>
            </a:r>
          </a:p>
        </p:txBody>
      </p:sp>
    </p:spTree>
    <p:extLst>
      <p:ext uri="{BB962C8B-B14F-4D97-AF65-F5344CB8AC3E}">
        <p14:creationId xmlns:p14="http://schemas.microsoft.com/office/powerpoint/2010/main" val="410030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F1A18-DCC5-3E49-B09E-446F3A558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224580"/>
            <a:ext cx="12192000" cy="615553"/>
          </a:xfrm>
        </p:spPr>
        <p:txBody>
          <a:bodyPr/>
          <a:lstStyle/>
          <a:p>
            <a:pPr algn="ctr"/>
            <a:r>
              <a:rPr lang="es-PE" sz="4000" dirty="0"/>
              <a:t>¿Qué ocurre realmente detrás de estas dos líneas?</a:t>
            </a:r>
            <a:endParaRPr lang="en-US" sz="40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65D9877-6838-9E47-886F-26028339CB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main.py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7AE3C69-6BB3-A84A-BCA2-E8D1F77811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38275" y="5343525"/>
            <a:ext cx="8246231" cy="1247775"/>
          </a:xfrm>
        </p:spPr>
        <p:txBody>
          <a:bodyPr/>
          <a:lstStyle/>
          <a:p>
            <a:pPr algn="ctr"/>
            <a:r>
              <a:rPr lang="es-PE" sz="2800" dirty="0"/>
              <a:t>¿Cómo logramos que dos líneas de Python desencadenen toda una infraestructura distribuida?</a:t>
            </a:r>
            <a:endParaRPr lang="en-US" sz="28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EA1E547-2ACB-C0C4-C120-56400D99A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7351" y="5594239"/>
            <a:ext cx="1472326" cy="53290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47F83CD-C32B-35F9-DC42-0E780DE6D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8482" y="5520277"/>
            <a:ext cx="407394" cy="68082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D809647-72F0-09AB-FBF1-9BAD1ECBAE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12" t="12795" r="5417" b="12078"/>
          <a:stretch>
            <a:fillRect/>
          </a:stretch>
        </p:blipFill>
        <p:spPr>
          <a:xfrm>
            <a:off x="1036432" y="446148"/>
            <a:ext cx="9739143" cy="355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936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B2311-0082-D74B-0D43-46E02D8B8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E372B8-4EB1-3DAC-EC66-7ED57B481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62" y="371445"/>
            <a:ext cx="3793237" cy="1107996"/>
          </a:xfrm>
        </p:spPr>
        <p:txBody>
          <a:bodyPr/>
          <a:lstStyle/>
          <a:p>
            <a:r>
              <a:rPr lang="es-PE" dirty="0"/>
              <a:t>Arquitectura General de </a:t>
            </a:r>
            <a:r>
              <a:rPr lang="es-PE" dirty="0" err="1"/>
              <a:t>Apider</a:t>
            </a:r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F4DAFDF-A8BE-870F-13C1-EF6CDD2DB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613" y="588962"/>
            <a:ext cx="1472326" cy="53290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DC5FE19-08A4-BF6D-48E5-E143B1178C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6744" y="515000"/>
            <a:ext cx="407394" cy="680826"/>
          </a:xfrm>
          <a:prstGeom prst="rect">
            <a:avLst/>
          </a:prstGeom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B014D1-1DF9-4710-F61A-4DFF9D54C0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7056" y="1850886"/>
            <a:ext cx="3694848" cy="680827"/>
          </a:xfrm>
        </p:spPr>
        <p:txBody>
          <a:bodyPr/>
          <a:lstStyle/>
          <a:p>
            <a:r>
              <a:rPr lang="es-PE" dirty="0"/>
              <a:t>El SDK es un cliente ligero. Toda la lógica de negocio vive en Azure.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2ECA882C-E43F-7E93-25C9-7AF3AE4EC6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099" y="0"/>
            <a:ext cx="104318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480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DC43A-8C39-9D94-E767-7786BB5B6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30AC21E-D8ED-9C7C-B634-9B82B6B64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62" y="438150"/>
            <a:ext cx="6509188" cy="1107996"/>
          </a:xfrm>
        </p:spPr>
        <p:txBody>
          <a:bodyPr/>
          <a:lstStyle/>
          <a:p>
            <a:r>
              <a:rPr lang="es-PE" dirty="0"/>
              <a:t>Arquitectura General de </a:t>
            </a:r>
            <a:r>
              <a:rPr lang="es-PE" dirty="0" err="1"/>
              <a:t>Apider</a:t>
            </a:r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C3DEB92-AEF1-4665-CDB6-45BEAC0A8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613" y="588962"/>
            <a:ext cx="1472326" cy="53290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C26EEC8-8D61-C530-08B1-8F3571D11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6744" y="515000"/>
            <a:ext cx="407394" cy="68082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EE0DEBC-D52C-86F0-3714-A59EAD29AA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440434"/>
            <a:ext cx="12192000" cy="4576656"/>
          </a:xfrm>
          <a:prstGeom prst="rect">
            <a:avLst/>
          </a:prstGeom>
        </p:spPr>
      </p:pic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DD3973BB-7761-30B1-2305-4A30DA7778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1187" y="1321589"/>
            <a:ext cx="4137463" cy="938329"/>
          </a:xfrm>
        </p:spPr>
        <p:txBody>
          <a:bodyPr/>
          <a:lstStyle/>
          <a:p>
            <a:r>
              <a:rPr lang="es-PE" dirty="0"/>
              <a:t>La idea era que automatizar se sintiera como escribir funciones Python, no como desplegar infraestructura.</a:t>
            </a:r>
          </a:p>
        </p:txBody>
      </p:sp>
    </p:spTree>
    <p:extLst>
      <p:ext uri="{BB962C8B-B14F-4D97-AF65-F5344CB8AC3E}">
        <p14:creationId xmlns:p14="http://schemas.microsoft.com/office/powerpoint/2010/main" val="3710260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46">
            <a:extLst>
              <a:ext uri="{FF2B5EF4-FFF2-40B4-BE49-F238E27FC236}">
                <a16:creationId xmlns:a16="http://schemas.microsoft.com/office/drawing/2014/main" id="{1F301958-DE5F-4AB2-97F9-69B1699A1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Problema</a:t>
            </a:r>
            <a:r>
              <a:rPr lang="en-US" dirty="0"/>
              <a:t> #1 (Multi-Tenancy)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ADB5E4-83CF-47EF-AC04-3689C7951E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37825" y="3133169"/>
            <a:ext cx="10116350" cy="735066"/>
          </a:xfrm>
        </p:spPr>
        <p:txBody>
          <a:bodyPr/>
          <a:lstStyle/>
          <a:p>
            <a:pPr algn="ctr"/>
            <a:r>
              <a:rPr lang="es-PE" sz="3600" dirty="0"/>
              <a:t>¿Cómo evitar que las credenciales se mezclen?</a:t>
            </a:r>
            <a:endParaRPr lang="en-US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A2588-DEEF-4466-B489-C48555FD0A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492443"/>
          </a:xfrm>
        </p:spPr>
        <p:txBody>
          <a:bodyPr/>
          <a:lstStyle/>
          <a:p>
            <a:r>
              <a:rPr lang="en-US" sz="3200" dirty="0"/>
              <a:t>OPENAI_API_KEY=</a:t>
            </a:r>
            <a:r>
              <a:rPr lang="en-US" sz="3200" dirty="0" err="1"/>
              <a:t>abc</a:t>
            </a:r>
            <a:endParaRPr lang="en-US" sz="32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080DA2C-210D-4425-AD02-4BE53C4F28F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553998"/>
          </a:xfrm>
        </p:spPr>
        <p:txBody>
          <a:bodyPr/>
          <a:lstStyle/>
          <a:p>
            <a:r>
              <a:rPr lang="es-PE" sz="3600" dirty="0"/>
              <a:t>Usuario B</a:t>
            </a:r>
            <a:endParaRPr lang="en-US" sz="3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6881EA-0B91-4897-8A3A-ED859EA8E9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492443"/>
          </a:xfrm>
        </p:spPr>
        <p:txBody>
          <a:bodyPr/>
          <a:lstStyle/>
          <a:p>
            <a:r>
              <a:rPr lang="en-US" sz="3200" dirty="0"/>
              <a:t>OPENAI_API_KEY=</a:t>
            </a:r>
            <a:r>
              <a:rPr lang="en-US" sz="3200" dirty="0" err="1"/>
              <a:t>xyz</a:t>
            </a:r>
            <a:endParaRPr lang="en-US" sz="32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5F1D2FA-DE5C-4E43-0000-DDBF741A9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1226" y="5793936"/>
            <a:ext cx="1472326" cy="53290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1A92CF2-3391-541A-25E6-05AADDD2E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2357" y="5719974"/>
            <a:ext cx="407394" cy="680826"/>
          </a:xfrm>
          <a:prstGeom prst="rect">
            <a:avLst/>
          </a:prstGeom>
        </p:spPr>
      </p:pic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A5530C-8C16-CA26-A8E7-C122EF6F0C3E}"/>
              </a:ext>
            </a:extLst>
          </p:cNvPr>
          <p:cNvSpPr txBox="1">
            <a:spLocks/>
          </p:cNvSpPr>
          <p:nvPr/>
        </p:nvSpPr>
        <p:spPr>
          <a:xfrm>
            <a:off x="736600" y="1589088"/>
            <a:ext cx="521970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800" kern="1200" spc="0" baseline="0">
                <a:solidFill>
                  <a:schemeClr val="tx1"/>
                </a:solidFill>
                <a:latin typeface="+mj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sz="3600" dirty="0"/>
              <a:t>Usuario A</a:t>
            </a:r>
            <a:endParaRPr lang="en-US" sz="36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D0816B8-3627-8164-4536-7C40D4CB0C6D}"/>
              </a:ext>
            </a:extLst>
          </p:cNvPr>
          <p:cNvSpPr txBox="1"/>
          <p:nvPr/>
        </p:nvSpPr>
        <p:spPr>
          <a:xfrm>
            <a:off x="2960687" y="4141624"/>
            <a:ext cx="5686425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3200" b="1" dirty="0"/>
              <a:t>Riesgos</a:t>
            </a:r>
          </a:p>
          <a:p>
            <a:endParaRPr lang="es-P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800" dirty="0"/>
              <a:t>Fuga de datos entre </a:t>
            </a:r>
            <a:r>
              <a:rPr lang="es-PE" sz="2800" dirty="0" err="1"/>
              <a:t>tenants</a:t>
            </a:r>
            <a:endParaRPr lang="es-PE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800" dirty="0"/>
              <a:t>Facturación equivocada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800" dirty="0"/>
              <a:t>Imposible auditar quién usó qué</a:t>
            </a:r>
          </a:p>
        </p:txBody>
      </p:sp>
    </p:spTree>
    <p:extLst>
      <p:ext uri="{BB962C8B-B14F-4D97-AF65-F5344CB8AC3E}">
        <p14:creationId xmlns:p14="http://schemas.microsoft.com/office/powerpoint/2010/main" val="401531798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CF45E-E35A-23F8-1329-1402DEBA6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DF02BC3-BDD9-92C6-D44E-3549C403E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5971" y="414358"/>
            <a:ext cx="1472326" cy="5329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180A65E-BDDF-50FF-92A4-709E4089D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7102" y="340396"/>
            <a:ext cx="407394" cy="680826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71CE875F-A0A0-3A67-E570-1A8FD6EBCFE5}"/>
              </a:ext>
            </a:extLst>
          </p:cNvPr>
          <p:cNvSpPr txBox="1">
            <a:spLocks/>
          </p:cNvSpPr>
          <p:nvPr/>
        </p:nvSpPr>
        <p:spPr>
          <a:xfrm>
            <a:off x="1804536" y="1065791"/>
            <a:ext cx="8315324" cy="795714"/>
          </a:xfrm>
          <a:prstGeom prst="rect">
            <a:avLst/>
          </a:prstGeom>
        </p:spPr>
        <p:txBody>
          <a:bodyPr/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s-PE" dirty="0"/>
              <a:t>Aislamiento de contexto con </a:t>
            </a:r>
            <a:r>
              <a:rPr lang="es-PE" dirty="0" err="1"/>
              <a:t>ContextVar</a:t>
            </a:r>
            <a:endParaRPr lang="es-PE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3E66A99A-A531-6DAD-47AB-C228B41941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0917"/>
          <a:stretch>
            <a:fillRect/>
          </a:stretch>
        </p:blipFill>
        <p:spPr>
          <a:xfrm>
            <a:off x="272346" y="1883394"/>
            <a:ext cx="5442653" cy="497460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E2F6367D-7AB4-BFEA-6B13-6C76804AA8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3303"/>
          <a:stretch>
            <a:fillRect/>
          </a:stretch>
        </p:blipFill>
        <p:spPr>
          <a:xfrm>
            <a:off x="6096001" y="1905386"/>
            <a:ext cx="5764924" cy="501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86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BEE76E7-B042-4BFE-9213-B8FE7EE4C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5549" y="457200"/>
            <a:ext cx="4358947" cy="984885"/>
          </a:xfrm>
        </p:spPr>
        <p:txBody>
          <a:bodyPr/>
          <a:lstStyle/>
          <a:p>
            <a:r>
              <a:rPr lang="es-PE" dirty="0"/>
              <a:t>Aislamiento de contexto con </a:t>
            </a:r>
            <a:r>
              <a:rPr lang="es-PE" dirty="0" err="1"/>
              <a:t>ContextVar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65D9877-6838-9E47-886F-26028339CB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/>
          <a:lstStyle/>
          <a:p>
            <a:r>
              <a:rPr lang="en-US" dirty="0"/>
              <a:t>main.py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C169CE9-B0F0-26BE-C6F7-96BEF6625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5595287"/>
            <a:ext cx="1472326" cy="53290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9AA140E-EE18-ED12-3EDC-25B466D0D5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7102" y="5521325"/>
            <a:ext cx="407394" cy="680826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F616BE56-C77D-226A-C8D5-7422498CDE0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282" t="11963" r="7371" b="12577"/>
          <a:stretch>
            <a:fillRect/>
          </a:stretch>
        </p:blipFill>
        <p:spPr>
          <a:xfrm>
            <a:off x="0" y="492313"/>
            <a:ext cx="6995924" cy="3581681"/>
          </a:xfrm>
          <a:prstGeom prst="rect">
            <a:avLst/>
          </a:prstGeom>
        </p:spPr>
      </p:pic>
      <p:sp>
        <p:nvSpPr>
          <p:cNvPr id="48" name="Text Placeholder 5">
            <a:extLst>
              <a:ext uri="{FF2B5EF4-FFF2-40B4-BE49-F238E27FC236}">
                <a16:creationId xmlns:a16="http://schemas.microsoft.com/office/drawing/2014/main" id="{ABE97B82-D294-EC9D-4C27-8E9C6655692F}"/>
              </a:ext>
            </a:extLst>
          </p:cNvPr>
          <p:cNvSpPr txBox="1">
            <a:spLocks/>
          </p:cNvSpPr>
          <p:nvPr/>
        </p:nvSpPr>
        <p:spPr>
          <a:xfrm>
            <a:off x="7347246" y="4954250"/>
            <a:ext cx="4358946" cy="1446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b="0" i="0" kern="1200" spc="0" baseline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0" marR="0" indent="0" algn="l" defTabSz="932742" rtl="0" eaLnBrk="1" fontAlgn="auto" latinLnBrk="0" hangingPunct="1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2400" b="0" i="0" kern="1200" spc="0" baseline="0">
                <a:solidFill>
                  <a:srgbClr val="2F2F2F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457063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594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14126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sz="2800"/>
              <a:t>✔ Sin fugas de credenciales</a:t>
            </a:r>
          </a:p>
          <a:p>
            <a:r>
              <a:rPr lang="es-PE" sz="2800"/>
              <a:t>✔ Thread-safe</a:t>
            </a:r>
          </a:p>
          <a:p>
            <a:r>
              <a:rPr lang="es-PE" sz="2800"/>
              <a:t>✔ Determinista</a:t>
            </a:r>
            <a:endParaRPr lang="es-PE" sz="2800" dirty="0"/>
          </a:p>
        </p:txBody>
      </p:sp>
      <p:sp>
        <p:nvSpPr>
          <p:cNvPr id="53" name="Rectangle 3">
            <a:extLst>
              <a:ext uri="{FF2B5EF4-FFF2-40B4-BE49-F238E27FC236}">
                <a16:creationId xmlns:a16="http://schemas.microsoft.com/office/drawing/2014/main" id="{E6FF961A-493B-1D71-FC82-281E10174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9975" y="1771692"/>
            <a:ext cx="410712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PE" altLang="es-P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Depuración </a:t>
            </a:r>
            <a:endParaRPr lang="es-PE" altLang="es-PE" sz="24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PE" altLang="es-P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PE" altLang="es-P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Representación interna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PE" altLang="es-P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Mensajes de error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s-PE" altLang="es-PE" sz="2400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s-PE" altLang="es-PE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Evitamos excepción con default=None</a:t>
            </a:r>
          </a:p>
        </p:txBody>
      </p:sp>
      <p:pic>
        <p:nvPicPr>
          <p:cNvPr id="57" name="Imagen 56">
            <a:extLst>
              <a:ext uri="{FF2B5EF4-FFF2-40B4-BE49-F238E27FC236}">
                <a16:creationId xmlns:a16="http://schemas.microsoft.com/office/drawing/2014/main" id="{7C8B8284-A68D-A25D-8D65-F6093A5E00C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930" t="13796" r="7337" b="14235"/>
          <a:stretch>
            <a:fillRect/>
          </a:stretch>
        </p:blipFill>
        <p:spPr>
          <a:xfrm>
            <a:off x="0" y="3503589"/>
            <a:ext cx="6995924" cy="289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22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7CEDB-91CC-788D-705C-EC257F41F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40E0325-7CAA-11CD-6582-C1D8F5848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187" y="6003160"/>
            <a:ext cx="1472326" cy="53290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EB4A885-DA56-E2EA-9559-3DCFA0D5C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2318" y="5929198"/>
            <a:ext cx="407394" cy="680826"/>
          </a:xfrm>
          <a:prstGeom prst="rect">
            <a:avLst/>
          </a:prstGeom>
        </p:spPr>
      </p:pic>
      <p:sp>
        <p:nvSpPr>
          <p:cNvPr id="9" name="Title 13">
            <a:extLst>
              <a:ext uri="{FF2B5EF4-FFF2-40B4-BE49-F238E27FC236}">
                <a16:creationId xmlns:a16="http://schemas.microsoft.com/office/drawing/2014/main" id="{0F6A75BB-D933-2A9F-96CB-9B12E6AB6678}"/>
              </a:ext>
            </a:extLst>
          </p:cNvPr>
          <p:cNvSpPr txBox="1">
            <a:spLocks/>
          </p:cNvSpPr>
          <p:nvPr/>
        </p:nvSpPr>
        <p:spPr>
          <a:xfrm>
            <a:off x="1945254" y="133351"/>
            <a:ext cx="8301489" cy="704850"/>
          </a:xfrm>
          <a:prstGeom prst="rect">
            <a:avLst/>
          </a:prstGeom>
        </p:spPr>
        <p:txBody>
          <a:bodyPr/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s-PE" dirty="0"/>
              <a:t>Aislamiento de contexto con </a:t>
            </a:r>
            <a:r>
              <a:rPr lang="es-PE" dirty="0" err="1"/>
              <a:t>ContextVar</a:t>
            </a:r>
            <a:endParaRPr lang="es-PE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0C263F0-FEB2-9A99-77AF-5CD785DB6F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5757" y="933450"/>
            <a:ext cx="7980486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56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103A0-ED6A-4348-5728-A08E1BFBB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46">
            <a:extLst>
              <a:ext uri="{FF2B5EF4-FFF2-40B4-BE49-F238E27FC236}">
                <a16:creationId xmlns:a16="http://schemas.microsoft.com/office/drawing/2014/main" id="{94D5858D-A2EB-99D8-673A-61E008012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Problema</a:t>
            </a:r>
            <a:r>
              <a:rPr lang="en-US" dirty="0"/>
              <a:t> #2 (</a:t>
            </a:r>
            <a:r>
              <a:rPr lang="en-US" dirty="0" err="1"/>
              <a:t>Seguridad</a:t>
            </a:r>
            <a:r>
              <a:rPr lang="en-US" dirty="0"/>
              <a:t>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5BE347-FC86-CB9A-FC41-6849839EDC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37825" y="3133169"/>
            <a:ext cx="10116350" cy="553998"/>
          </a:xfrm>
        </p:spPr>
        <p:txBody>
          <a:bodyPr/>
          <a:lstStyle/>
          <a:p>
            <a:r>
              <a:rPr lang="es-PE" sz="3600" dirty="0"/>
              <a:t>¿Cómo transportar credenciales sin exponerlas?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C167C-295B-2B90-04E4-65645D2D24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04975" y="1433454"/>
            <a:ext cx="8782050" cy="1292662"/>
          </a:xfrm>
        </p:spPr>
        <p:txBody>
          <a:bodyPr/>
          <a:lstStyle/>
          <a:p>
            <a:pPr marL="0" indent="0" algn="ctr">
              <a:buNone/>
            </a:pPr>
            <a:r>
              <a:rPr lang="es-PE" sz="2800" dirty="0"/>
              <a:t>En un sistema multi-tenant, cada usuario tiene su propia API key (OpenAI, Stripe, etc.) que no debe viajar en claro por la red ni mezclarse con otros tenants</a:t>
            </a:r>
            <a:endParaRPr lang="en-US" sz="36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11FF6B2-89E5-A66F-2394-266359C6F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1226" y="5793936"/>
            <a:ext cx="1472326" cy="53290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C36CEDA-344B-30AD-D541-B820FF5FED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2357" y="5719974"/>
            <a:ext cx="407394" cy="68082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063CBBB8-45F4-93BC-ACEF-155B4918347E}"/>
              </a:ext>
            </a:extLst>
          </p:cNvPr>
          <p:cNvSpPr txBox="1"/>
          <p:nvPr/>
        </p:nvSpPr>
        <p:spPr>
          <a:xfrm>
            <a:off x="1724025" y="4141624"/>
            <a:ext cx="7858396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3200" b="1" dirty="0"/>
              <a:t>Riesgos</a:t>
            </a:r>
          </a:p>
          <a:p>
            <a:endParaRPr lang="es-P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800" dirty="0"/>
              <a:t>Key expuesta en código y en el tráfico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800" dirty="0"/>
              <a:t>Uso no autorizado (fraude, consumo de cuota)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800" dirty="0"/>
              <a:t>Rotación de credenciales casi imposible</a:t>
            </a:r>
          </a:p>
        </p:txBody>
      </p:sp>
    </p:spTree>
    <p:extLst>
      <p:ext uri="{BB962C8B-B14F-4D97-AF65-F5344CB8AC3E}">
        <p14:creationId xmlns:p14="http://schemas.microsoft.com/office/powerpoint/2010/main" val="255341220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4A758-66AD-9AB7-A5F0-D5EE840C3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7149A61-9D11-F86B-24E9-783BE258F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5971" y="414358"/>
            <a:ext cx="1472326" cy="5329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E509593-0543-61B3-0B36-E9F403E3E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7102" y="340396"/>
            <a:ext cx="407394" cy="680826"/>
          </a:xfrm>
          <a:prstGeom prst="rect">
            <a:avLst/>
          </a:prstGeom>
        </p:spPr>
      </p:pic>
      <p:sp>
        <p:nvSpPr>
          <p:cNvPr id="9" name="Title 13">
            <a:extLst>
              <a:ext uri="{FF2B5EF4-FFF2-40B4-BE49-F238E27FC236}">
                <a16:creationId xmlns:a16="http://schemas.microsoft.com/office/drawing/2014/main" id="{EA792FC2-7B7A-0685-1FEB-B3A7B45E13DF}"/>
              </a:ext>
            </a:extLst>
          </p:cNvPr>
          <p:cNvSpPr txBox="1">
            <a:spLocks/>
          </p:cNvSpPr>
          <p:nvPr/>
        </p:nvSpPr>
        <p:spPr>
          <a:xfrm>
            <a:off x="1804536" y="1065791"/>
            <a:ext cx="8315324" cy="795714"/>
          </a:xfrm>
          <a:prstGeom prst="rect">
            <a:avLst/>
          </a:prstGeom>
        </p:spPr>
        <p:txBody>
          <a:bodyPr/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algn="ctr"/>
            <a:r>
              <a:rPr lang="es-PE" dirty="0"/>
              <a:t>Fernet </a:t>
            </a:r>
            <a:r>
              <a:rPr lang="es-PE" dirty="0" err="1"/>
              <a:t>Encryption</a:t>
            </a:r>
            <a:endParaRPr lang="es-PE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DEB0CCD-B29C-1DAE-A6D9-670A80306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094278"/>
            <a:ext cx="12192000" cy="601211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054252B1-A06D-6E85-9562-2169578D5320}"/>
              </a:ext>
            </a:extLst>
          </p:cNvPr>
          <p:cNvSpPr txBox="1"/>
          <p:nvPr/>
        </p:nvSpPr>
        <p:spPr>
          <a:xfrm>
            <a:off x="103583" y="2823248"/>
            <a:ext cx="119848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2400" dirty="0"/>
              <a:t>Las credenciales no viven en Azure. Viven con el usuario. </a:t>
            </a:r>
            <a:r>
              <a:rPr lang="es-PE" sz="2400" dirty="0" err="1"/>
              <a:t>Apider</a:t>
            </a:r>
            <a:r>
              <a:rPr lang="es-PE" sz="2400" dirty="0"/>
              <a:t> simplemente las transporta cifradas, las utiliza durante la ejecución y las descarta inmediatamente.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7E29A0D-A777-6349-334B-A99B7FDBC0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842507"/>
            <a:ext cx="12192000" cy="1675799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9CE61EAF-DFA5-730B-5E0A-6B4CC7BFBB63}"/>
              </a:ext>
            </a:extLst>
          </p:cNvPr>
          <p:cNvSpPr txBox="1"/>
          <p:nvPr/>
        </p:nvSpPr>
        <p:spPr>
          <a:xfrm>
            <a:off x="838794" y="5792209"/>
            <a:ext cx="105144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2000" dirty="0"/>
              <a:t>HTTPS protege el canal de transporte. Fernet protege el </a:t>
            </a:r>
            <a:r>
              <a:rPr lang="es-PE" sz="2000" dirty="0" err="1"/>
              <a:t>payload</a:t>
            </a:r>
            <a:r>
              <a:rPr lang="es-PE" sz="2000" dirty="0"/>
              <a:t>. Son capas distintas. Esto hace que las credenciales estuvieran cifradas incluso antes de salir del proceso del usuario</a:t>
            </a:r>
          </a:p>
        </p:txBody>
      </p:sp>
    </p:spTree>
    <p:extLst>
      <p:ext uri="{BB962C8B-B14F-4D97-AF65-F5344CB8AC3E}">
        <p14:creationId xmlns:p14="http://schemas.microsoft.com/office/powerpoint/2010/main" val="3791244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B302C-5AB2-84B0-77C5-24DD7C2BA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46">
            <a:extLst>
              <a:ext uri="{FF2B5EF4-FFF2-40B4-BE49-F238E27FC236}">
                <a16:creationId xmlns:a16="http://schemas.microsoft.com/office/drawing/2014/main" id="{01874002-7DF1-F1CE-A064-FBD571285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Problema</a:t>
            </a:r>
            <a:r>
              <a:rPr lang="en-US" dirty="0"/>
              <a:t> #3 (</a:t>
            </a:r>
            <a:r>
              <a:rPr lang="es-PE" dirty="0"/>
              <a:t>Actualizaciones</a:t>
            </a:r>
            <a:r>
              <a:rPr lang="en-US" dirty="0"/>
              <a:t>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8F69467-1B03-F451-F989-2A8980C1D7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37825" y="2891715"/>
            <a:ext cx="10116350" cy="1107996"/>
          </a:xfrm>
        </p:spPr>
        <p:txBody>
          <a:bodyPr/>
          <a:lstStyle/>
          <a:p>
            <a:pPr algn="ctr"/>
            <a:r>
              <a:rPr lang="es-PE" sz="3600" dirty="0"/>
              <a:t>¿Cómo actualizar la lógica sin obligar a los usuarios a reinstalar el SDK?</a:t>
            </a:r>
            <a:endParaRPr lang="en-US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A795AB-2CAF-F7A4-38CA-D57FF9747F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8263" y="1207549"/>
            <a:ext cx="4983862" cy="1477328"/>
          </a:xfrm>
        </p:spPr>
        <p:txBody>
          <a:bodyPr/>
          <a:lstStyle/>
          <a:p>
            <a:pPr marL="0" indent="0">
              <a:buNone/>
            </a:pPr>
            <a:r>
              <a:rPr lang="es-PE" dirty="0"/>
              <a:t>Cada vez que cambias reglas de negocio, prompts, límites por tenant, etc., si eso vive en el </a:t>
            </a:r>
            <a:r>
              <a:rPr lang="es-PE" b="1" dirty="0"/>
              <a:t>SDK</a:t>
            </a:r>
            <a:r>
              <a:rPr lang="es-PE" dirty="0"/>
              <a:t>, obligas a los usuarios a actualizar versión.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E01D17-FB2B-FB68-74F4-B90A3B0FEA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19877" y="1186575"/>
            <a:ext cx="4443486" cy="1477328"/>
          </a:xfrm>
        </p:spPr>
        <p:txBody>
          <a:bodyPr/>
          <a:lstStyle/>
          <a:p>
            <a:pPr marL="0" indent="0">
              <a:buNone/>
            </a:pPr>
            <a:r>
              <a:rPr lang="es-PE" dirty="0"/>
              <a:t>En clientes enterprise, actualizar un SDK puede tomar semanas (aprobaciones internas, QA, change management).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DD1A4ED5-45ED-6C5B-22F3-069204F5D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1226" y="5793936"/>
            <a:ext cx="1472326" cy="53290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F3F0703-2B57-E4B4-1F8C-9F32EA25E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2357" y="5719974"/>
            <a:ext cx="407394" cy="68082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FC9E17A3-AA12-535C-B71D-DD24DA2538E8}"/>
              </a:ext>
            </a:extLst>
          </p:cNvPr>
          <p:cNvSpPr txBox="1"/>
          <p:nvPr/>
        </p:nvSpPr>
        <p:spPr>
          <a:xfrm>
            <a:off x="1414327" y="4206549"/>
            <a:ext cx="8315596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3200" b="1" dirty="0"/>
              <a:t>Riesgos</a:t>
            </a:r>
          </a:p>
          <a:p>
            <a:endParaRPr lang="es-P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800" dirty="0"/>
              <a:t>Clientes atascados en versiones antiguas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800" dirty="0"/>
              <a:t>Soporte más caro: más combinaciones de versión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800" dirty="0"/>
              <a:t>Evolución del producto mucho más lenta</a:t>
            </a:r>
          </a:p>
        </p:txBody>
      </p:sp>
    </p:spTree>
    <p:extLst>
      <p:ext uri="{BB962C8B-B14F-4D97-AF65-F5344CB8AC3E}">
        <p14:creationId xmlns:p14="http://schemas.microsoft.com/office/powerpoint/2010/main" val="285702781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882EB-383F-724B-D941-2B0E1D1FD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AFBF5DB-20B2-BE9D-6640-93B0EC5AD1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" t="-1143" r="-78" b="12669"/>
          <a:stretch>
            <a:fillRect/>
          </a:stretch>
        </p:blipFill>
        <p:spPr>
          <a:xfrm>
            <a:off x="0" y="1223012"/>
            <a:ext cx="12192000" cy="556831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02B54D6-3A40-B138-0F1C-BF33588E1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414358"/>
            <a:ext cx="1472326" cy="5329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565AFE7-6687-D1F7-1D95-61CB0569A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7102" y="340396"/>
            <a:ext cx="407394" cy="680826"/>
          </a:xfrm>
          <a:prstGeom prst="rect">
            <a:avLst/>
          </a:prstGeom>
        </p:spPr>
      </p:pic>
      <p:sp>
        <p:nvSpPr>
          <p:cNvPr id="9" name="Title 13">
            <a:extLst>
              <a:ext uri="{FF2B5EF4-FFF2-40B4-BE49-F238E27FC236}">
                <a16:creationId xmlns:a16="http://schemas.microsoft.com/office/drawing/2014/main" id="{8346E451-EA69-1EF0-4C60-870CE2AE5F38}"/>
              </a:ext>
            </a:extLst>
          </p:cNvPr>
          <p:cNvSpPr txBox="1">
            <a:spLocks/>
          </p:cNvSpPr>
          <p:nvPr/>
        </p:nvSpPr>
        <p:spPr>
          <a:xfrm>
            <a:off x="557213" y="1113416"/>
            <a:ext cx="7581900" cy="795714"/>
          </a:xfrm>
          <a:prstGeom prst="rect">
            <a:avLst/>
          </a:prstGeom>
        </p:spPr>
        <p:txBody>
          <a:bodyPr/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algn="ctr"/>
            <a:r>
              <a:rPr lang="es-PE" dirty="0"/>
              <a:t>Arquitectura Thin Client / </a:t>
            </a:r>
            <a:r>
              <a:rPr lang="es-PE" dirty="0" err="1"/>
              <a:t>Fat</a:t>
            </a:r>
            <a:r>
              <a:rPr lang="es-PE" dirty="0"/>
              <a:t> Server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BF03343-9730-4E5C-9C8C-1983DA1276D1}"/>
              </a:ext>
            </a:extLst>
          </p:cNvPr>
          <p:cNvSpPr txBox="1"/>
          <p:nvPr/>
        </p:nvSpPr>
        <p:spPr>
          <a:xfrm>
            <a:off x="557213" y="5192044"/>
            <a:ext cx="68103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dirty="0"/>
              <a:t>Esto me permite corregir errores, mejorar integraciones y agregar funcionalidades sin que el usuario tenga que reinstalar nada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575F3FD-8CBB-AA57-98E9-D6EEF3594210}"/>
              </a:ext>
            </a:extLst>
          </p:cNvPr>
          <p:cNvSpPr txBox="1"/>
          <p:nvPr/>
        </p:nvSpPr>
        <p:spPr>
          <a:xfrm>
            <a:off x="557213" y="2270607"/>
            <a:ext cx="68103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dirty="0"/>
              <a:t>Cuando un usuario ejecuta </a:t>
            </a:r>
            <a:r>
              <a:rPr lang="es-PE" sz="2400" dirty="0" err="1"/>
              <a:t>Telegram.send</a:t>
            </a:r>
            <a:r>
              <a:rPr lang="es-PE" sz="2400" dirty="0"/>
              <a:t>(), realmente está llamando a un </a:t>
            </a:r>
            <a:r>
              <a:rPr lang="es-PE" sz="2400" dirty="0" err="1"/>
              <a:t>endpoint</a:t>
            </a:r>
            <a:r>
              <a:rPr lang="es-PE" sz="2400" dirty="0"/>
              <a:t> remoto.</a:t>
            </a:r>
          </a:p>
        </p:txBody>
      </p:sp>
    </p:spTree>
    <p:extLst>
      <p:ext uri="{BB962C8B-B14F-4D97-AF65-F5344CB8AC3E}">
        <p14:creationId xmlns:p14="http://schemas.microsoft.com/office/powerpoint/2010/main" val="2905361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40906-26FB-8916-4298-CC1DF3C66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46">
            <a:extLst>
              <a:ext uri="{FF2B5EF4-FFF2-40B4-BE49-F238E27FC236}">
                <a16:creationId xmlns:a16="http://schemas.microsoft.com/office/drawing/2014/main" id="{2E2479BC-B3D9-C439-4990-E5BFC35B4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Problema</a:t>
            </a:r>
            <a:r>
              <a:rPr lang="en-US" dirty="0"/>
              <a:t> #4 (</a:t>
            </a:r>
            <a:r>
              <a:rPr lang="es-PE" dirty="0"/>
              <a:t>Automatización basada en eventos</a:t>
            </a:r>
            <a:r>
              <a:rPr lang="en-US" dirty="0"/>
              <a:t>)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24E58B-F13A-3908-2759-0096F8D4922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37825" y="2751591"/>
            <a:ext cx="10116350" cy="1107996"/>
          </a:xfrm>
        </p:spPr>
        <p:txBody>
          <a:bodyPr/>
          <a:lstStyle/>
          <a:p>
            <a:pPr algn="ctr"/>
            <a:r>
              <a:rPr lang="es-PE" sz="3600" dirty="0"/>
              <a:t>¿Cómo convertir una función Python en un </a:t>
            </a:r>
            <a:r>
              <a:rPr lang="es-PE" sz="3600" dirty="0" err="1"/>
              <a:t>endpoint</a:t>
            </a:r>
            <a:r>
              <a:rPr lang="es-PE" sz="3600" dirty="0"/>
              <a:t> público?</a:t>
            </a:r>
            <a:endParaRPr lang="en-US" sz="36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CE9F27-093B-5ECD-3B79-3C014F5301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8263" y="1281825"/>
            <a:ext cx="4612387" cy="1107996"/>
          </a:xfrm>
        </p:spPr>
        <p:txBody>
          <a:bodyPr/>
          <a:lstStyle/>
          <a:p>
            <a:pPr marL="0" indent="0">
              <a:buNone/>
            </a:pPr>
            <a:r>
              <a:rPr lang="es-PE" dirty="0"/>
              <a:t>Las empresas modernas ya </a:t>
            </a:r>
            <a:r>
              <a:rPr lang="es-PE" i="1" dirty="0"/>
              <a:t>hablan en eventos</a:t>
            </a:r>
            <a:r>
              <a:rPr lang="es-PE" dirty="0"/>
              <a:t>: pagos, pedidos, pushes de código, tickets, etc.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3B6A97-072D-92A7-6A45-3DA5477C41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76925" y="1281825"/>
            <a:ext cx="5991225" cy="1107996"/>
          </a:xfrm>
        </p:spPr>
        <p:txBody>
          <a:bodyPr/>
          <a:lstStyle/>
          <a:p>
            <a:pPr marL="0" indent="0">
              <a:buNone/>
            </a:pPr>
            <a:r>
              <a:rPr lang="es-PE" dirty="0"/>
              <a:t>Plataformas como Stripe, GitHub y Shopify envían </a:t>
            </a:r>
            <a:r>
              <a:rPr lang="es-PE" b="1" dirty="0"/>
              <a:t>webhooks</a:t>
            </a:r>
            <a:r>
              <a:rPr lang="es-PE" dirty="0"/>
              <a:t> cada vez que pasa algo importante (pago, push, order_created, etc.).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C4F9C04-64F4-48ED-2F7B-60AEB257B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1226" y="5793936"/>
            <a:ext cx="1472326" cy="532902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45FED47-F943-DC3E-E6E4-8E2E065A0A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2357" y="5719974"/>
            <a:ext cx="407394" cy="680826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2046E84-EE4D-38FF-209B-56ED27670AA1}"/>
              </a:ext>
            </a:extLst>
          </p:cNvPr>
          <p:cNvSpPr txBox="1"/>
          <p:nvPr/>
        </p:nvSpPr>
        <p:spPr>
          <a:xfrm>
            <a:off x="3178901" y="4215586"/>
            <a:ext cx="5396048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3200" b="1" dirty="0"/>
              <a:t>Riesgos</a:t>
            </a:r>
          </a:p>
          <a:p>
            <a:endParaRPr lang="es-P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800" dirty="0"/>
              <a:t>Eventos perdidos o duplicados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800" dirty="0"/>
              <a:t>Seguridad inconsistente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800" dirty="0"/>
              <a:t>Dependencia silenciosa</a:t>
            </a:r>
          </a:p>
        </p:txBody>
      </p:sp>
    </p:spTree>
    <p:extLst>
      <p:ext uri="{BB962C8B-B14F-4D97-AF65-F5344CB8AC3E}">
        <p14:creationId xmlns:p14="http://schemas.microsoft.com/office/powerpoint/2010/main" val="382833749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6657A-5F90-7F4A-EEED-EAD51C397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06E95ED-ADC6-1679-4562-B2BC7E2C61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69" r="8437" b="16920"/>
          <a:stretch>
            <a:fillRect/>
          </a:stretch>
        </p:blipFill>
        <p:spPr>
          <a:xfrm>
            <a:off x="-1" y="1328602"/>
            <a:ext cx="12192001" cy="313499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14DC252-2E92-0AE6-3448-970B57187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5971" y="414358"/>
            <a:ext cx="1472326" cy="5329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1DCA85D-8C89-C6C8-15AB-B191FB12C8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7102" y="340396"/>
            <a:ext cx="407394" cy="680826"/>
          </a:xfrm>
          <a:prstGeom prst="rect">
            <a:avLst/>
          </a:prstGeom>
        </p:spPr>
      </p:pic>
      <p:sp>
        <p:nvSpPr>
          <p:cNvPr id="9" name="Title 13">
            <a:extLst>
              <a:ext uri="{FF2B5EF4-FFF2-40B4-BE49-F238E27FC236}">
                <a16:creationId xmlns:a16="http://schemas.microsoft.com/office/drawing/2014/main" id="{909E879E-6246-60A0-5FF5-0D6CF365DB07}"/>
              </a:ext>
            </a:extLst>
          </p:cNvPr>
          <p:cNvSpPr txBox="1">
            <a:spLocks/>
          </p:cNvSpPr>
          <p:nvPr/>
        </p:nvSpPr>
        <p:spPr>
          <a:xfrm>
            <a:off x="1804536" y="1065791"/>
            <a:ext cx="8315324" cy="795714"/>
          </a:xfrm>
          <a:prstGeom prst="rect">
            <a:avLst/>
          </a:prstGeom>
        </p:spPr>
        <p:txBody>
          <a:bodyPr/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algn="ctr"/>
            <a:r>
              <a:rPr lang="es-PE" dirty="0"/>
              <a:t>Solución: </a:t>
            </a:r>
            <a:r>
              <a:rPr lang="es-PE" dirty="0" err="1"/>
              <a:t>Webhooks</a:t>
            </a:r>
            <a:endParaRPr lang="es-PE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1C9A049-B595-DB70-FA89-F3F63FE2B58B}"/>
              </a:ext>
            </a:extLst>
          </p:cNvPr>
          <p:cNvSpPr txBox="1"/>
          <p:nvPr/>
        </p:nvSpPr>
        <p:spPr>
          <a:xfrm>
            <a:off x="-1" y="4693202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2400" dirty="0"/>
              <a:t>Como el evento puede llegar horas o días después del registro, el </a:t>
            </a:r>
            <a:r>
              <a:rPr lang="es-PE" sz="2400" dirty="0" err="1"/>
              <a:t>runtime</a:t>
            </a:r>
            <a:r>
              <a:rPr lang="es-PE" sz="2400" dirty="0"/>
              <a:t> necesita recuperar las credenciales asociadas al </a:t>
            </a:r>
            <a:r>
              <a:rPr lang="es-PE" sz="2400" dirty="0" err="1"/>
              <a:t>webhook</a:t>
            </a:r>
            <a:r>
              <a:rPr lang="es-PE" sz="2400" dirty="0"/>
              <a:t>. En ese caso sí existe persistencia, protegida mediante Azure RBAC y Azure Table Storage.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61C0DAC-3411-1082-96EA-B42B3BFABCA5}"/>
              </a:ext>
            </a:extLst>
          </p:cNvPr>
          <p:cNvSpPr txBox="1"/>
          <p:nvPr/>
        </p:nvSpPr>
        <p:spPr>
          <a:xfrm>
            <a:off x="3366636" y="5893531"/>
            <a:ext cx="51911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2400" dirty="0"/>
              <a:t>RBAC</a:t>
            </a:r>
            <a:r>
              <a:rPr lang="es-PE" sz="3600" dirty="0"/>
              <a:t> = </a:t>
            </a:r>
            <a:r>
              <a:rPr lang="es-PE" sz="2400" dirty="0"/>
              <a:t>Role-Based Access Control</a:t>
            </a:r>
            <a:endParaRPr lang="es-PE" sz="3600" dirty="0"/>
          </a:p>
        </p:txBody>
      </p:sp>
    </p:spTree>
    <p:extLst>
      <p:ext uri="{BB962C8B-B14F-4D97-AF65-F5344CB8AC3E}">
        <p14:creationId xmlns:p14="http://schemas.microsoft.com/office/powerpoint/2010/main" val="1503905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6CA9E-579F-E8A5-FACE-D946CFBB5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FF8DB64-C6A6-48CD-A515-97A8C446D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5971" y="414358"/>
            <a:ext cx="1472326" cy="5329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C72EAB6-2DCF-4B03-05CB-F4208C29C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7102" y="340396"/>
            <a:ext cx="407394" cy="680826"/>
          </a:xfrm>
          <a:prstGeom prst="rect">
            <a:avLst/>
          </a:prstGeom>
        </p:spPr>
      </p:pic>
      <p:sp>
        <p:nvSpPr>
          <p:cNvPr id="9" name="Title 13">
            <a:extLst>
              <a:ext uri="{FF2B5EF4-FFF2-40B4-BE49-F238E27FC236}">
                <a16:creationId xmlns:a16="http://schemas.microsoft.com/office/drawing/2014/main" id="{F5242495-F4ED-E2AD-8B11-537B909B98D6}"/>
              </a:ext>
            </a:extLst>
          </p:cNvPr>
          <p:cNvSpPr txBox="1">
            <a:spLocks/>
          </p:cNvSpPr>
          <p:nvPr/>
        </p:nvSpPr>
        <p:spPr>
          <a:xfrm>
            <a:off x="1804536" y="1065791"/>
            <a:ext cx="8315324" cy="795714"/>
          </a:xfrm>
          <a:prstGeom prst="rect">
            <a:avLst/>
          </a:prstGeom>
        </p:spPr>
        <p:txBody>
          <a:bodyPr/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algn="ctr"/>
            <a:r>
              <a:rPr lang="es-PE" dirty="0"/>
              <a:t>Solución: </a:t>
            </a:r>
            <a:r>
              <a:rPr lang="es-PE" dirty="0" err="1"/>
              <a:t>Webhooks</a:t>
            </a:r>
            <a:endParaRPr lang="es-PE"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591BA2AD-6B11-A8ED-16D0-C2590F21FE20}"/>
              </a:ext>
            </a:extLst>
          </p:cNvPr>
          <p:cNvGrpSpPr/>
          <p:nvPr/>
        </p:nvGrpSpPr>
        <p:grpSpPr>
          <a:xfrm>
            <a:off x="0" y="1910745"/>
            <a:ext cx="12192000" cy="1567850"/>
            <a:chOff x="0" y="4282470"/>
            <a:chExt cx="12192000" cy="1567850"/>
          </a:xfrm>
        </p:grpSpPr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4CB2C2D9-582F-96F6-4C74-AD983730A6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5220709"/>
              <a:ext cx="12192000" cy="629611"/>
            </a:xfrm>
            <a:prstGeom prst="rect">
              <a:avLst/>
            </a:prstGeom>
          </p:spPr>
        </p:pic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4271D199-071E-BC8A-EBAF-71563065176D}"/>
                </a:ext>
              </a:extLst>
            </p:cNvPr>
            <p:cNvSpPr txBox="1"/>
            <p:nvPr/>
          </p:nvSpPr>
          <p:spPr>
            <a:xfrm>
              <a:off x="0" y="4282470"/>
              <a:ext cx="121920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PE" sz="2400" dirty="0"/>
                <a:t>Las credenciales viajan con la ejecución. Se cifran localmente, se descifran en memoria dentro del </a:t>
              </a:r>
              <a:r>
                <a:rPr lang="es-PE" sz="2400" dirty="0" err="1"/>
                <a:t>runtime</a:t>
              </a:r>
              <a:r>
                <a:rPr lang="es-PE" sz="2400" dirty="0"/>
                <a:t>, se utilizan durante la ejecución y luego se descartan</a:t>
              </a: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FABF36D4-2232-1CC2-4342-9C49617DD9B0}"/>
              </a:ext>
            </a:extLst>
          </p:cNvPr>
          <p:cNvGrpSpPr/>
          <p:nvPr/>
        </p:nvGrpSpPr>
        <p:grpSpPr>
          <a:xfrm>
            <a:off x="0" y="3915755"/>
            <a:ext cx="12192000" cy="2837085"/>
            <a:chOff x="0" y="1782155"/>
            <a:chExt cx="12192000" cy="2837085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134DB6A6-27BF-5AC3-7BFD-D3717FA68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1782155"/>
              <a:ext cx="12192000" cy="2837085"/>
            </a:xfrm>
            <a:prstGeom prst="rect">
              <a:avLst/>
            </a:prstGeom>
          </p:spPr>
        </p:pic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E9F4D24D-7BF7-6388-9418-CF60527B6063}"/>
                </a:ext>
              </a:extLst>
            </p:cNvPr>
            <p:cNvSpPr txBox="1"/>
            <p:nvPr/>
          </p:nvSpPr>
          <p:spPr>
            <a:xfrm>
              <a:off x="518660" y="3200697"/>
              <a:ext cx="5805939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PE" sz="3200" dirty="0"/>
                <a:t>La excepción a la regla: </a:t>
              </a:r>
              <a:r>
                <a:rPr lang="es-PE" sz="3200" dirty="0" err="1"/>
                <a:t>Webhooks</a:t>
              </a:r>
              <a:endParaRPr lang="es-PE" sz="4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61065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F1A18-DCC5-3E49-B09E-446F3A558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err="1"/>
              <a:t>Scheduler</a:t>
            </a:r>
            <a:r>
              <a:rPr lang="es-PE" dirty="0"/>
              <a:t> Distribuido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65D9877-6838-9E47-886F-26028339CB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main.py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AC9C17E-6C16-56D0-83C1-936C92340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123" y="237717"/>
            <a:ext cx="1472326" cy="53290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E262667-B389-5055-470D-DCF4B32EE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27254" y="163755"/>
            <a:ext cx="407394" cy="680826"/>
          </a:xfrm>
          <a:prstGeom prst="rect">
            <a:avLst/>
          </a:prstGeom>
        </p:spPr>
      </p:pic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507469FA-53C2-98AB-5CD9-2DC0D08EE6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3400" y="1229131"/>
            <a:ext cx="11858625" cy="553998"/>
          </a:xfrm>
        </p:spPr>
        <p:txBody>
          <a:bodyPr/>
          <a:lstStyle/>
          <a:p>
            <a:r>
              <a:rPr lang="es-PE" dirty="0"/>
              <a:t>¿Cómo ejecutar funciones Python periódicamente sin depender de una máquina local?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B601DA1-0FAC-40A5-A344-3FEF743D51E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343" r="19766" b="28379"/>
          <a:stretch>
            <a:fillRect/>
          </a:stretch>
        </p:blipFill>
        <p:spPr>
          <a:xfrm>
            <a:off x="0" y="1827067"/>
            <a:ext cx="12205427" cy="848282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7F608AEE-1EDC-C2D6-8D32-8BBECC15C25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547" t="10769" r="6273" b="12617"/>
          <a:stretch>
            <a:fillRect/>
          </a:stretch>
        </p:blipFill>
        <p:spPr>
          <a:xfrm>
            <a:off x="0" y="3273286"/>
            <a:ext cx="7998255" cy="3543460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id="{AA0E97B4-C496-A367-F3DF-38FAE3AC14B1}"/>
              </a:ext>
            </a:extLst>
          </p:cNvPr>
          <p:cNvSpPr txBox="1"/>
          <p:nvPr/>
        </p:nvSpPr>
        <p:spPr>
          <a:xfrm>
            <a:off x="7998255" y="3429000"/>
            <a:ext cx="403377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dirty="0">
                <a:solidFill>
                  <a:schemeClr val="bg1"/>
                </a:solidFill>
              </a:rPr>
              <a:t>Un Timer Trigger se ejecuta cada minuto, busca los trabajos pendientes y dispara el </a:t>
            </a:r>
            <a:r>
              <a:rPr lang="es-PE" sz="2400" dirty="0" err="1">
                <a:solidFill>
                  <a:schemeClr val="bg1"/>
                </a:solidFill>
              </a:rPr>
              <a:t>runtime</a:t>
            </a:r>
            <a:r>
              <a:rPr lang="es-PE" sz="2400" dirty="0">
                <a:solidFill>
                  <a:schemeClr val="bg1"/>
                </a:solidFill>
              </a:rPr>
              <a:t>.</a:t>
            </a:r>
          </a:p>
          <a:p>
            <a:endParaRPr lang="es-PE" sz="2400" dirty="0">
              <a:solidFill>
                <a:schemeClr val="bg1"/>
              </a:solidFill>
            </a:endParaRPr>
          </a:p>
          <a:p>
            <a:r>
              <a:rPr lang="es-PE" sz="2400" dirty="0">
                <a:solidFill>
                  <a:schemeClr val="bg1"/>
                </a:solidFill>
              </a:rPr>
              <a:t>Desde el punto de vista del usuario solamente existe una función Python.</a:t>
            </a:r>
          </a:p>
        </p:txBody>
      </p:sp>
    </p:spTree>
    <p:extLst>
      <p:ext uri="{BB962C8B-B14F-4D97-AF65-F5344CB8AC3E}">
        <p14:creationId xmlns:p14="http://schemas.microsoft.com/office/powerpoint/2010/main" val="329004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75ED6-5F24-8E35-6747-A55A4CD9C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F844B75-6469-CFC8-6F53-C250BE21DB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32" r="4922" b="10178"/>
          <a:stretch>
            <a:fillRect/>
          </a:stretch>
        </p:blipFill>
        <p:spPr>
          <a:xfrm>
            <a:off x="276166" y="1121864"/>
            <a:ext cx="11498778" cy="5531375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2B43D53F-EAB0-5E02-A268-B5869B75D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212" y="661106"/>
            <a:ext cx="5594788" cy="553998"/>
          </a:xfrm>
        </p:spPr>
        <p:txBody>
          <a:bodyPr/>
          <a:lstStyle/>
          <a:p>
            <a:r>
              <a:rPr lang="es-PE" dirty="0"/>
              <a:t>Arquitectura Completa</a:t>
            </a:r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AD51B3E-5FB6-98EE-941B-666022B52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5613" y="588962"/>
            <a:ext cx="1472326" cy="53290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0BCE193-3BB4-4863-C9B1-3377E31AB4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6744" y="515000"/>
            <a:ext cx="407394" cy="680826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02989B3B-38AA-B55B-DD46-2B2405D3827F}"/>
              </a:ext>
            </a:extLst>
          </p:cNvPr>
          <p:cNvSpPr txBox="1"/>
          <p:nvPr/>
        </p:nvSpPr>
        <p:spPr>
          <a:xfrm>
            <a:off x="501212" y="4911847"/>
            <a:ext cx="68103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dirty="0"/>
              <a:t>La complejidad se encuentra en la infraestructura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E6C8DF2-F02A-5137-8904-5B651AA2F3E7}"/>
              </a:ext>
            </a:extLst>
          </p:cNvPr>
          <p:cNvSpPr txBox="1"/>
          <p:nvPr/>
        </p:nvSpPr>
        <p:spPr>
          <a:xfrm>
            <a:off x="501212" y="1737417"/>
            <a:ext cx="48613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/>
              <a:t>La experiencia del desarrollador se mantiene extremadamente simple</a:t>
            </a:r>
            <a:endParaRPr lang="es-PE" sz="240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19DA422-8611-9D2C-041D-FC03EA1D7EEE}"/>
              </a:ext>
            </a:extLst>
          </p:cNvPr>
          <p:cNvSpPr txBox="1"/>
          <p:nvPr/>
        </p:nvSpPr>
        <p:spPr>
          <a:xfrm>
            <a:off x="501212" y="5782543"/>
            <a:ext cx="68103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2400" dirty="0"/>
              <a:t>Un único </a:t>
            </a:r>
            <a:r>
              <a:rPr lang="es-PE" sz="2400" dirty="0" err="1"/>
              <a:t>runtime</a:t>
            </a:r>
            <a:r>
              <a:rPr lang="es-PE" sz="2400" dirty="0"/>
              <a:t> para múltiples capacidades</a:t>
            </a:r>
          </a:p>
        </p:txBody>
      </p:sp>
    </p:spTree>
    <p:extLst>
      <p:ext uri="{BB962C8B-B14F-4D97-AF65-F5344CB8AC3E}">
        <p14:creationId xmlns:p14="http://schemas.microsoft.com/office/powerpoint/2010/main" val="409912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FB1F9-418D-ECA1-D77F-30B29391D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DD89A1-6570-5FF5-FF7D-0E6556073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212" y="661106"/>
            <a:ext cx="5594788" cy="553998"/>
          </a:xfrm>
        </p:spPr>
        <p:txBody>
          <a:bodyPr/>
          <a:lstStyle/>
          <a:p>
            <a:r>
              <a:rPr lang="es-PE" dirty="0"/>
              <a:t>Resultados obtenidos</a:t>
            </a:r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0E4460F-EA4A-C0D3-9B1B-B32E220CA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613" y="588962"/>
            <a:ext cx="1472326" cy="53290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1A7A6CD-8E13-5C19-5831-F62EAF48F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6744" y="515000"/>
            <a:ext cx="407394" cy="68082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EE9824F-C5BB-5579-3871-CA8923D5801D}"/>
              </a:ext>
            </a:extLst>
          </p:cNvPr>
          <p:cNvSpPr txBox="1"/>
          <p:nvPr/>
        </p:nvSpPr>
        <p:spPr>
          <a:xfrm>
            <a:off x="501212" y="1653361"/>
            <a:ext cx="460418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800" dirty="0" err="1"/>
              <a:t>Runtime</a:t>
            </a:r>
            <a:r>
              <a:rPr lang="es-PE" sz="2800" dirty="0"/>
              <a:t> </a:t>
            </a:r>
            <a:r>
              <a:rPr lang="es-PE" sz="2800" dirty="0" err="1"/>
              <a:t>multi-tenant</a:t>
            </a:r>
            <a:r>
              <a:rPr lang="es-PE" sz="2800" dirty="0"/>
              <a:t> funcional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800" dirty="0"/>
              <a:t>Aislamiento seguro por contexto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800" dirty="0"/>
              <a:t>Arquitectura </a:t>
            </a:r>
            <a:r>
              <a:rPr lang="es-PE" sz="2800" dirty="0" err="1"/>
              <a:t>serverless</a:t>
            </a:r>
            <a:endParaRPr lang="es-PE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800" dirty="0" err="1"/>
              <a:t>Webhooks</a:t>
            </a:r>
            <a:r>
              <a:rPr lang="es-PE" sz="2800" dirty="0"/>
              <a:t> persistentes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800" dirty="0" err="1"/>
              <a:t>Scheduler</a:t>
            </a:r>
            <a:r>
              <a:rPr lang="es-PE" sz="2800" dirty="0"/>
              <a:t> distribuido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800" dirty="0"/>
              <a:t>SDK publicado en </a:t>
            </a:r>
            <a:r>
              <a:rPr lang="es-PE" sz="2800" dirty="0" err="1"/>
              <a:t>PyPI</a:t>
            </a:r>
            <a:endParaRPr lang="es-PE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E" sz="2800" dirty="0"/>
              <a:t>Escalado automático mediante Azure </a:t>
            </a:r>
            <a:r>
              <a:rPr lang="es-PE" sz="2800" dirty="0" err="1"/>
              <a:t>Functions</a:t>
            </a:r>
            <a:endParaRPr lang="es-PE" sz="28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CE1F2D8-0833-C34E-5146-10BCFFAAF21C}"/>
              </a:ext>
            </a:extLst>
          </p:cNvPr>
          <p:cNvSpPr txBox="1"/>
          <p:nvPr/>
        </p:nvSpPr>
        <p:spPr>
          <a:xfrm>
            <a:off x="6096000" y="1653360"/>
            <a:ext cx="60198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800" dirty="0" err="1"/>
              <a:t>ContextVar</a:t>
            </a:r>
            <a:r>
              <a:rPr lang="es-MX" sz="2800" dirty="0"/>
              <a:t> fue más importante de lo esperado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800" dirty="0"/>
              <a:t>La simplicidad para el usuario genera complejidad interna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800" dirty="0"/>
              <a:t>Azure </a:t>
            </a:r>
            <a:r>
              <a:rPr lang="es-MX" sz="2800" dirty="0" err="1"/>
              <a:t>Functions</a:t>
            </a:r>
            <a:r>
              <a:rPr lang="es-MX" sz="2800" dirty="0"/>
              <a:t> puede soportar arquitecturas más complejas de lo que parece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800" dirty="0"/>
              <a:t>Diseñar para </a:t>
            </a:r>
            <a:r>
              <a:rPr lang="es-MX" sz="2800" dirty="0" err="1"/>
              <a:t>multi-tenancy</a:t>
            </a:r>
            <a:r>
              <a:rPr lang="es-MX" sz="2800" dirty="0"/>
              <a:t> desde el inicio evita muchos problemas futuros</a:t>
            </a:r>
            <a:endParaRPr lang="es-PE" sz="2800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2DAB6F3-6ECB-DD23-6A68-737C50F74DA8}"/>
              </a:ext>
            </a:extLst>
          </p:cNvPr>
          <p:cNvSpPr txBox="1"/>
          <p:nvPr/>
        </p:nvSpPr>
        <p:spPr>
          <a:xfrm>
            <a:off x="6096000" y="611051"/>
            <a:ext cx="37099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dirty="0">
                <a:latin typeface="+mj-lt"/>
              </a:rPr>
              <a:t>Lo que me gustó</a:t>
            </a:r>
          </a:p>
        </p:txBody>
      </p:sp>
    </p:spTree>
    <p:extLst>
      <p:ext uri="{BB962C8B-B14F-4D97-AF65-F5344CB8AC3E}">
        <p14:creationId xmlns:p14="http://schemas.microsoft.com/office/powerpoint/2010/main" val="2713965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D87F3-0640-FA5B-6660-5078665D4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9F5CEED-2A63-1ABD-BEAD-82E272577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212" y="661106"/>
            <a:ext cx="5594788" cy="553998"/>
          </a:xfrm>
        </p:spPr>
        <p:txBody>
          <a:bodyPr/>
          <a:lstStyle/>
          <a:p>
            <a:r>
              <a:rPr lang="es-PE" dirty="0"/>
              <a:t>Lecciones Aprendidas</a:t>
            </a:r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DD2290C-54C8-7580-0C4C-8FC0CC826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613" y="588962"/>
            <a:ext cx="1472326" cy="53290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47B6C3F-099D-2CEB-9DA1-5980A04E1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16744" y="515000"/>
            <a:ext cx="407394" cy="680826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0A35491-B5BE-4594-D2E0-97885B09AB53}"/>
              </a:ext>
            </a:extLst>
          </p:cNvPr>
          <p:cNvSpPr txBox="1"/>
          <p:nvPr/>
        </p:nvSpPr>
        <p:spPr>
          <a:xfrm>
            <a:off x="1809750" y="1574069"/>
            <a:ext cx="85725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PE" sz="2400" dirty="0"/>
              <a:t>La experiencia simple para el desarrollador fue posible gracias a aislamiento, </a:t>
            </a:r>
            <a:r>
              <a:rPr lang="es-PE" sz="2400" dirty="0" err="1"/>
              <a:t>serverless</a:t>
            </a:r>
            <a:r>
              <a:rPr lang="es-PE" sz="2400" dirty="0"/>
              <a:t> y diseño de </a:t>
            </a:r>
            <a:r>
              <a:rPr lang="es-PE" sz="2400" dirty="0" err="1"/>
              <a:t>runtime</a:t>
            </a:r>
            <a:endParaRPr lang="es-PE" sz="24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760779C5-1B32-7588-A78B-E6A948B0AF6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5408"/>
          <a:stretch>
            <a:fillRect/>
          </a:stretch>
        </p:blipFill>
        <p:spPr>
          <a:xfrm>
            <a:off x="0" y="2857272"/>
            <a:ext cx="12192000" cy="319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282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Jorge de la Flor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1C11295-E24E-5BB9-185A-7858CC6B4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5654" y="482675"/>
            <a:ext cx="1472326" cy="5329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A76BB00-0505-AC7F-C13C-57F576DE2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6785" y="408713"/>
            <a:ext cx="407394" cy="68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73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Marcador de posición de imagen 9">
            <a:extLst>
              <a:ext uri="{FF2B5EF4-FFF2-40B4-BE49-F238E27FC236}">
                <a16:creationId xmlns:a16="http://schemas.microsoft.com/office/drawing/2014/main" id="{75DDE9CC-294F-5F74-9F15-8605E5346EE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/>
          <a:stretch>
            <a:fillRect/>
          </a:stretch>
        </p:blipFill>
        <p:spPr bwMode="ltGray">
          <a:xfrm>
            <a:off x="5334000" y="106540"/>
            <a:ext cx="6858000" cy="68580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6D4E256-77FD-3A2A-8104-6795B1E2E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438" y="6002586"/>
            <a:ext cx="1472326" cy="53290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BAA788C-E6A1-5A27-7DC3-E8653B224B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3976" y="5928624"/>
            <a:ext cx="407394" cy="680826"/>
          </a:xfrm>
          <a:prstGeom prst="rect">
            <a:avLst/>
          </a:prstGeom>
        </p:spPr>
      </p:pic>
      <p:sp>
        <p:nvSpPr>
          <p:cNvPr id="15" name="Title 6">
            <a:extLst>
              <a:ext uri="{FF2B5EF4-FFF2-40B4-BE49-F238E27FC236}">
                <a16:creationId xmlns:a16="http://schemas.microsoft.com/office/drawing/2014/main" id="{A35E4CB0-D32D-8AB7-51E3-685FB5F84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212" y="661106"/>
            <a:ext cx="4420158" cy="553998"/>
          </a:xfrm>
        </p:spPr>
        <p:txBody>
          <a:bodyPr/>
          <a:lstStyle/>
          <a:p>
            <a:r>
              <a:rPr lang="es-PE" dirty="0"/>
              <a:t>Ideas Clave</a:t>
            </a:r>
            <a:endParaRPr lang="en-US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E135802-ED42-3CEB-61FF-7D87F90229C6}"/>
              </a:ext>
            </a:extLst>
          </p:cNvPr>
          <p:cNvSpPr txBox="1"/>
          <p:nvPr/>
        </p:nvSpPr>
        <p:spPr>
          <a:xfrm>
            <a:off x="338139" y="1615495"/>
            <a:ext cx="490061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400" dirty="0"/>
              <a:t>El reto no era ejecutar código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400" dirty="0"/>
              <a:t>El reto era ejecutarlo de forma aislada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400" dirty="0" err="1"/>
              <a:t>ContextVar</a:t>
            </a:r>
            <a:r>
              <a:rPr lang="es-PE" sz="2400" dirty="0"/>
              <a:t> permitió aislamiento por ejecución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400" dirty="0"/>
              <a:t>Azure </a:t>
            </a:r>
            <a:r>
              <a:rPr lang="es-PE" sz="2400" dirty="0" err="1"/>
              <a:t>Functions</a:t>
            </a:r>
            <a:r>
              <a:rPr lang="es-PE" sz="2400" dirty="0"/>
              <a:t> proporcionó escalado </a:t>
            </a:r>
            <a:r>
              <a:rPr lang="es-PE" sz="2400" dirty="0" err="1"/>
              <a:t>serverless</a:t>
            </a:r>
            <a:endParaRPr lang="es-PE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2400" dirty="0"/>
              <a:t>La simplicidad para el desarrollador requiere una infraestructura compleja</a:t>
            </a:r>
          </a:p>
        </p:txBody>
      </p:sp>
    </p:spTree>
    <p:extLst>
      <p:ext uri="{BB962C8B-B14F-4D97-AF65-F5344CB8AC3E}">
        <p14:creationId xmlns:p14="http://schemas.microsoft.com/office/powerpoint/2010/main" val="2646423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Microsoft Build 16:9 Template Light">
  <a:themeElements>
    <a:clrScheme name="Custom 80">
      <a:dk1>
        <a:srgbClr val="000000"/>
      </a:dk1>
      <a:lt1>
        <a:srgbClr val="FFFFFF"/>
      </a:lt1>
      <a:dk2>
        <a:srgbClr val="2A446F"/>
      </a:dk2>
      <a:lt2>
        <a:srgbClr val="D7D2CB"/>
      </a:lt2>
      <a:accent1>
        <a:srgbClr val="00A4EF"/>
      </a:accent1>
      <a:accent2>
        <a:srgbClr val="7FBA00"/>
      </a:accent2>
      <a:accent3>
        <a:srgbClr val="F25022"/>
      </a:accent3>
      <a:accent4>
        <a:srgbClr val="BF9474"/>
      </a:accent4>
      <a:accent5>
        <a:srgbClr val="FFB900"/>
      </a:accent5>
      <a:accent6>
        <a:srgbClr val="B1B3B3"/>
      </a:accent6>
      <a:hlink>
        <a:srgbClr val="0078D4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uild_2026_16-9 Event-template_v03.potx" id="{23295F41-47B4-4925-B9F3-5276FDC5A736}" vid="{5F1F9044-CA6A-440B-A728-2F8917897A95}"/>
    </a:ext>
  </a:extLst>
</a:theme>
</file>

<file path=ppt/theme/theme2.xml><?xml version="1.0" encoding="utf-8"?>
<a:theme xmlns:a="http://schemas.openxmlformats.org/drawingml/2006/main" name="Microsoft Build 16:9 Template Dark">
  <a:themeElements>
    <a:clrScheme name="Custom 79">
      <a:dk1>
        <a:srgbClr val="000000"/>
      </a:dk1>
      <a:lt1>
        <a:srgbClr val="FFFFFF"/>
      </a:lt1>
      <a:dk2>
        <a:srgbClr val="091F2C"/>
      </a:dk2>
      <a:lt2>
        <a:srgbClr val="E8E6DF"/>
      </a:lt2>
      <a:accent1>
        <a:srgbClr val="00A4EF"/>
      </a:accent1>
      <a:accent2>
        <a:srgbClr val="7FBA00"/>
      </a:accent2>
      <a:accent3>
        <a:srgbClr val="F25022"/>
      </a:accent3>
      <a:accent4>
        <a:srgbClr val="E1D3C7"/>
      </a:accent4>
      <a:accent5>
        <a:srgbClr val="FFB900"/>
      </a:accent5>
      <a:accent6>
        <a:srgbClr val="D9D9D6"/>
      </a:accent6>
      <a:hlink>
        <a:srgbClr val="8DC8E8"/>
      </a:hlink>
      <a:folHlink>
        <a:srgbClr val="C5B4E3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uild_2026_16-9 Event-template_v03.potx" id="{23295F41-47B4-4925-B9F3-5276FDC5A736}" vid="{9568D0D4-72EB-4CE1-95C9-D12481B11A0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EC89680E11F64392A775FE1A751122" ma:contentTypeVersion="26" ma:contentTypeDescription="Create a new document." ma:contentTypeScope="" ma:versionID="9969028081730ee97d21bdaac806d38a">
  <xsd:schema xmlns:xsd="http://www.w3.org/2001/XMLSchema" xmlns:xs="http://www.w3.org/2001/XMLSchema" xmlns:p="http://schemas.microsoft.com/office/2006/metadata/properties" xmlns:ns1="http://schemas.microsoft.com/sharepoint/v3" xmlns:ns2="39b48df9-7bcc-48f8-84a5-975ca2e243d0" xmlns:ns3="8acfeebd-d9f0-4ade-ade8-6c6fbcc43572" xmlns:ns4="230e9df3-be65-4c73-a93b-d1236ebd677e" targetNamespace="http://schemas.microsoft.com/office/2006/metadata/properties" ma:root="true" ma:fieldsID="531b72d70252e024ceee9ee87ea63378" ns1:_="" ns2:_="" ns3:_="" ns4:_="">
    <xsd:import namespace="http://schemas.microsoft.com/sharepoint/v3"/>
    <xsd:import namespace="39b48df9-7bcc-48f8-84a5-975ca2e243d0"/>
    <xsd:import namespace="8acfeebd-d9f0-4ade-ade8-6c6fbcc43572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uvsThumbnailurl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4:TaxCatchAll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j5610f6f79384a4d92af5d7a6b56e029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b48df9-7bcc-48f8-84a5-975ca2e243d0" elementFormDefault="qualified">
    <xsd:import namespace="http://schemas.microsoft.com/office/2006/documentManagement/types"/>
    <xsd:import namespace="http://schemas.microsoft.com/office/infopath/2007/PartnerControls"/>
    <xsd:element name="uvsThumbnailurl" ma:index="8" nillable="true" ma:displayName="uvsThumbnailurl" ma:format="Dropdown" ma:internalName="uvsThumbnailurl">
      <xsd:simpleType>
        <xsd:restriction base="dms:Text">
          <xsd:maxLength value="255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j5610f6f79384a4d92af5d7a6b56e029" ma:index="28" nillable="true" ma:taxonomy="true" ma:internalName="j5610f6f79384a4d92af5d7a6b56e029" ma:taxonomyFieldName="Metadata" ma:displayName="Metadata" ma:default="" ma:fieldId="{35610f6f-7938-4a4d-92af-5d7a6b56e029}" ma:sspId="e385fb40-52d4-4fae-9c5b-3e8ff8a5878e" ma:termSetId="386095d1-c68d-4c6d-b587-48ddaf1aecc9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MediaServiceDocTags" ma:index="29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3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cfeebd-d9f0-4ade-ade8-6c6fbcc4357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cf082490-e48c-4bba-a917-bf1fc11e5a27}" ma:internalName="TaxCatchAll" ma:showField="CatchAllData" ma:web="8acfeebd-d9f0-4ade-ade8-6c6fbcc435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MediaServiceKeyPoints xmlns="39b48df9-7bcc-48f8-84a5-975ca2e243d0" xsi:nil="true"/>
    <lcf76f155ced4ddcb4097134ff3c332f xmlns="39b48df9-7bcc-48f8-84a5-975ca2e243d0">
      <Terms xmlns="http://schemas.microsoft.com/office/infopath/2007/PartnerControls"/>
    </lcf76f155ced4ddcb4097134ff3c332f>
    <j5610f6f79384a4d92af5d7a6b56e029 xmlns="39b48df9-7bcc-48f8-84a5-975ca2e243d0">
      <Terms xmlns="http://schemas.microsoft.com/office/infopath/2007/PartnerControls"/>
    </j5610f6f79384a4d92af5d7a6b56e029>
    <uvsThumbnailurl xmlns="39b48df9-7bcc-48f8-84a5-975ca2e243d0" xsi:nil="true"/>
    <TaxCatchAll xmlns="230e9df3-be65-4c73-a93b-d1236ebd67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68D98C-7056-4B2E-AF35-ADD173A05F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9b48df9-7bcc-48f8-84a5-975ca2e243d0"/>
    <ds:schemaRef ds:uri="8acfeebd-d9f0-4ade-ade8-6c6fbcc43572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990F116-B58F-4255-B05B-DA3808E0E5C6}">
  <ds:schemaRefs>
    <ds:schemaRef ds:uri="http://schemas.microsoft.com/sharepoint/v3"/>
    <ds:schemaRef ds:uri="http://purl.org/dc/elements/1.1/"/>
    <ds:schemaRef ds:uri="6a2cddcd-7434-4740-93ff-9eefa0d8931b"/>
    <ds:schemaRef ds:uri="http://schemas.microsoft.com/office/2006/metadata/properties"/>
    <ds:schemaRef ds:uri="4e74c756-a527-4705-9f82-ebb6503e1a84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www.w3.org/XML/1998/namespace"/>
    <ds:schemaRef ds:uri="http://purl.org/dc/dcmitype/"/>
    <ds:schemaRef ds:uri="39b48df9-7bcc-48f8-84a5-975ca2e243d0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Build_2026_16-9 Event-template_v04</Template>
  <TotalTime>3105</TotalTime>
  <Words>2132</Words>
  <Application>Microsoft Office PowerPoint</Application>
  <PresentationFormat>Widescreen</PresentationFormat>
  <Paragraphs>235</Paragraphs>
  <Slides>24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26" baseType="lpstr">
      <vt:lpstr>Microsoft Build 16:9 Template Light</vt:lpstr>
      <vt:lpstr>Microsoft Build 16:9 Template Dark</vt:lpstr>
      <vt:lpstr>Microsoft Build</vt:lpstr>
      <vt:lpstr>Building a Multi-Tenant Python Runtime on Azure Functions</vt:lpstr>
      <vt:lpstr>Sobre mí</vt:lpstr>
      <vt:lpstr>EL RETO</vt:lpstr>
      <vt:lpstr>¿Qué ocurre realmente detrás de estas dos líneas?</vt:lpstr>
      <vt:lpstr>Arquitectura General de Apider</vt:lpstr>
      <vt:lpstr>Arquitectura General de Apider</vt:lpstr>
      <vt:lpstr>Problema #1 (Multi-Tenancy)</vt:lpstr>
      <vt:lpstr>PowerPoint Presentation</vt:lpstr>
      <vt:lpstr>Aislamiento de contexto con ContextVar</vt:lpstr>
      <vt:lpstr>PowerPoint Presentation</vt:lpstr>
      <vt:lpstr>Problema #2 (Seguridad)</vt:lpstr>
      <vt:lpstr>PowerPoint Presentation</vt:lpstr>
      <vt:lpstr>Problema #3 (Actualizaciones)</vt:lpstr>
      <vt:lpstr>PowerPoint Presentation</vt:lpstr>
      <vt:lpstr>Problema #4 (Automatización basada en eventos)</vt:lpstr>
      <vt:lpstr>PowerPoint Presentation</vt:lpstr>
      <vt:lpstr>PowerPoint Presentation</vt:lpstr>
      <vt:lpstr>Scheduler Distribuido</vt:lpstr>
      <vt:lpstr>Arquitectura Completa</vt:lpstr>
      <vt:lpstr>Resultados obtenidos</vt:lpstr>
      <vt:lpstr>Lecciones Aprendidas</vt:lpstr>
      <vt:lpstr>Demo</vt:lpstr>
      <vt:lpstr>Ideas Clave</vt:lpstr>
    </vt:vector>
  </TitlesOfParts>
  <Manager>&lt;Comms manager name here&gt;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Microsoft Build</dc:subject>
  <dc:creator>Renzo Martin Roca Ramos</dc:creator>
  <cp:keywords>Microsoft Build</cp:keywords>
  <dc:description/>
  <cp:lastModifiedBy>JORGE AURELIO DE LA FLOR ARGANDOÑA</cp:lastModifiedBy>
  <cp:revision>5</cp:revision>
  <cp:lastPrinted>2023-02-15T20:48:24Z</cp:lastPrinted>
  <dcterms:created xsi:type="dcterms:W3CDTF">2026-06-03T04:15:43Z</dcterms:created>
  <dcterms:modified xsi:type="dcterms:W3CDTF">2026-08-26T19:18:53Z</dcterms:modified>
  <cp:category>Microsoft Build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0x01010005EC89680E11F64392A775FE1A751122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Ref">
    <vt:lpwstr>https://api.informationprotection.azure.com/api/72f988bf-86f1-41af-91ab-2d7cd011db47</vt:lpwstr>
  </property>
  <property fmtid="{D5CDD505-2E9C-101B-9397-08002B2CF9AE}" pid="14" name="MSIP_Label_f42aa342-8706-4288-bd11-ebb85995028c_SetDate">
    <vt:lpwstr>2017-08-29T14:27:20.8568347-07:00</vt:lpwstr>
  </property>
  <property fmtid="{D5CDD505-2E9C-101B-9397-08002B2CF9AE}" pid="15" name="MSIP_Label_f42aa342-8706-4288-bd11-ebb85995028c_Name">
    <vt:lpwstr>General</vt:lpwstr>
  </property>
  <property fmtid="{D5CDD505-2E9C-101B-9397-08002B2CF9AE}" pid="16" name="MSIP_Label_f42aa342-8706-4288-bd11-ebb85995028c_Extended_MSFT_Method">
    <vt:lpwstr>Automatic</vt:lpwstr>
  </property>
  <property fmtid="{D5CDD505-2E9C-101B-9397-08002B2CF9AE}" pid="17" name="Sensitivity">
    <vt:lpwstr>General</vt:lpwstr>
  </property>
</Properties>
</file>